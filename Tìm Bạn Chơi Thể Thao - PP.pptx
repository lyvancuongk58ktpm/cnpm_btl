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79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483" y="240740"/>
            <a:ext cx="5225415" cy="8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02020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8383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02020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8383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02020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02020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7664" y="7803780"/>
            <a:ext cx="1606190" cy="3011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044" y="634923"/>
            <a:ext cx="7817523" cy="1144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02020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1525" y="2099945"/>
            <a:ext cx="6434455" cy="4864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83838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4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3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98273" y="773392"/>
            <a:ext cx="7455534" cy="2996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850"/>
              </a:lnSpc>
            </a:pPr>
            <a:r>
              <a:rPr lang="vi-VN" sz="4650" b="1" spc="-160" dirty="0">
                <a:solidFill>
                  <a:srgbClr val="020202"/>
                </a:solidFill>
                <a:latin typeface="Palatino Linotype"/>
                <a:cs typeface="Palatino Linotype"/>
              </a:rPr>
              <a:t>BÀI TẬP LỚN CÔNG NGHỆ PHẦN MỀM </a:t>
            </a:r>
            <a:r>
              <a:rPr sz="4650" spc="-340" dirty="0">
                <a:solidFill>
                  <a:srgbClr val="020202"/>
                </a:solidFill>
                <a:latin typeface="Arial"/>
                <a:cs typeface="Arial"/>
              </a:rPr>
              <a:t>Ứ</a:t>
            </a:r>
            <a:r>
              <a:rPr sz="4650" b="1" spc="-340" dirty="0">
                <a:solidFill>
                  <a:srgbClr val="020202"/>
                </a:solidFill>
                <a:latin typeface="Palatino Linotype"/>
                <a:cs typeface="Palatino Linotype"/>
              </a:rPr>
              <a:t>NG </a:t>
            </a:r>
            <a:r>
              <a:rPr sz="4650" b="1" spc="-365" dirty="0">
                <a:solidFill>
                  <a:srgbClr val="020202"/>
                </a:solidFill>
                <a:latin typeface="Palatino Linotype"/>
                <a:cs typeface="Palatino Linotype"/>
              </a:rPr>
              <a:t>D</a:t>
            </a:r>
            <a:r>
              <a:rPr sz="4650" spc="-365" dirty="0">
                <a:solidFill>
                  <a:srgbClr val="020202"/>
                </a:solidFill>
                <a:latin typeface="Arial"/>
                <a:cs typeface="Arial"/>
              </a:rPr>
              <a:t>Ụ</a:t>
            </a:r>
            <a:r>
              <a:rPr sz="4650" b="1" spc="-365" dirty="0">
                <a:solidFill>
                  <a:srgbClr val="020202"/>
                </a:solidFill>
                <a:latin typeface="Palatino Linotype"/>
                <a:cs typeface="Palatino Linotype"/>
              </a:rPr>
              <a:t>NG</a:t>
            </a:r>
            <a:r>
              <a:rPr sz="4650" b="1" spc="7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-35" dirty="0">
                <a:solidFill>
                  <a:srgbClr val="020202"/>
                </a:solidFill>
                <a:latin typeface="Palatino Linotype"/>
                <a:cs typeface="Palatino Linotype"/>
              </a:rPr>
              <a:t>TÌM</a:t>
            </a:r>
            <a:r>
              <a:rPr sz="4650" b="1" spc="-26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-30" dirty="0">
                <a:solidFill>
                  <a:srgbClr val="020202"/>
                </a:solidFill>
                <a:latin typeface="Palatino Linotype"/>
                <a:cs typeface="Palatino Linotype"/>
              </a:rPr>
              <a:t>B</a:t>
            </a:r>
            <a:r>
              <a:rPr sz="4650" spc="-30" dirty="0">
                <a:solidFill>
                  <a:srgbClr val="020202"/>
                </a:solidFill>
                <a:latin typeface="Arial"/>
                <a:cs typeface="Arial"/>
              </a:rPr>
              <a:t>Ạ</a:t>
            </a:r>
            <a:r>
              <a:rPr sz="4650" b="1" spc="-30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r>
              <a:rPr sz="4650" b="1" spc="-20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-20" dirty="0">
                <a:solidFill>
                  <a:srgbClr val="020202"/>
                </a:solidFill>
                <a:latin typeface="Palatino Linotype"/>
                <a:cs typeface="Palatino Linotype"/>
              </a:rPr>
              <a:t>CH</a:t>
            </a:r>
            <a:r>
              <a:rPr sz="4650" spc="-20" dirty="0">
                <a:solidFill>
                  <a:srgbClr val="020202"/>
                </a:solidFill>
                <a:latin typeface="Arial"/>
                <a:cs typeface="Arial"/>
              </a:rPr>
              <a:t>Ơ</a:t>
            </a:r>
            <a:r>
              <a:rPr sz="4650" b="1" spc="-20" dirty="0">
                <a:solidFill>
                  <a:srgbClr val="020202"/>
                </a:solidFill>
                <a:latin typeface="Palatino Linotype"/>
                <a:cs typeface="Palatino Linotype"/>
              </a:rPr>
              <a:t>I </a:t>
            </a:r>
            <a:r>
              <a:rPr sz="4650" b="1" spc="-30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4650" spc="-30" dirty="0">
                <a:solidFill>
                  <a:srgbClr val="020202"/>
                </a:solidFill>
                <a:latin typeface="Arial"/>
                <a:cs typeface="Arial"/>
              </a:rPr>
              <a:t>Ể</a:t>
            </a:r>
            <a:r>
              <a:rPr sz="4650" spc="-275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4650" b="1" spc="-20" dirty="0">
                <a:solidFill>
                  <a:srgbClr val="020202"/>
                </a:solidFill>
                <a:latin typeface="Palatino Linotype"/>
                <a:cs typeface="Palatino Linotype"/>
              </a:rPr>
              <a:t>THAO</a:t>
            </a:r>
            <a:endParaRPr sz="4650" dirty="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7487" y="4126115"/>
            <a:ext cx="1061085" cy="7493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GVHD:</a:t>
            </a:r>
            <a:endParaRPr sz="17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750" b="1" spc="55" dirty="0">
                <a:solidFill>
                  <a:srgbClr val="383838"/>
                </a:solidFill>
                <a:latin typeface="Century Gothic"/>
                <a:cs typeface="Century Gothic"/>
              </a:rPr>
              <a:t>Sinh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viên: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9926" y="5682363"/>
            <a:ext cx="4972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ớ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p:</a:t>
            </a:r>
            <a:endParaRPr sz="175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94003" y="4126115"/>
            <a:ext cx="2510790" cy="18406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5080" indent="-73660">
              <a:lnSpc>
                <a:spcPct val="135700"/>
              </a:lnSpc>
              <a:spcBef>
                <a:spcPts val="100"/>
              </a:spcBef>
            </a:pPr>
            <a:r>
              <a:rPr sz="1750" b="1" spc="100" dirty="0">
                <a:solidFill>
                  <a:srgbClr val="383838"/>
                </a:solidFill>
                <a:latin typeface="Century Gothic"/>
                <a:cs typeface="Century Gothic"/>
              </a:rPr>
              <a:t>ThS.</a:t>
            </a:r>
            <a:r>
              <a:rPr sz="1750" b="1" spc="-8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Nguy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ễ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spc="105" dirty="0">
                <a:solidFill>
                  <a:srgbClr val="383838"/>
                </a:solidFill>
                <a:latin typeface="Arial"/>
                <a:cs typeface="Arial"/>
              </a:rPr>
              <a:t>ị</a:t>
            </a:r>
            <a:r>
              <a:rPr sz="1750" spc="-7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ươ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endParaRPr lang="vi-VN" sz="1750" b="1" spc="-20" dirty="0">
              <a:solidFill>
                <a:srgbClr val="383838"/>
              </a:solidFill>
              <a:latin typeface="Century Gothic"/>
              <a:cs typeface="Century Gothic"/>
            </a:endParaRPr>
          </a:p>
          <a:p>
            <a:pPr marL="85725" marR="5080" indent="-73660">
              <a:lnSpc>
                <a:spcPct val="135700"/>
              </a:lnSpc>
              <a:spcBef>
                <a:spcPts val="100"/>
              </a:spcBef>
            </a:pPr>
            <a:r>
              <a:rPr lang="vi-VN"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Lê Tuấn Anh</a:t>
            </a:r>
          </a:p>
          <a:p>
            <a:pPr marL="85725" marR="5080" indent="-73660">
              <a:lnSpc>
                <a:spcPct val="135700"/>
              </a:lnSpc>
              <a:spcBef>
                <a:spcPts val="100"/>
              </a:spcBef>
            </a:pPr>
            <a:r>
              <a:rPr lang="vi-VN"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Vũ Việt Anh</a:t>
            </a:r>
            <a:endParaRPr lang="vi-VN" sz="1750" dirty="0">
              <a:latin typeface="Century Gothic"/>
              <a:cs typeface="Century Gothic"/>
            </a:endParaRPr>
          </a:p>
          <a:p>
            <a:pPr marL="85725" marR="5080" indent="-73660">
              <a:lnSpc>
                <a:spcPct val="135700"/>
              </a:lnSpc>
              <a:spcBef>
                <a:spcPts val="100"/>
              </a:spcBef>
            </a:pPr>
            <a:r>
              <a:rPr sz="1750" b="1" spc="114" dirty="0">
                <a:solidFill>
                  <a:srgbClr val="383838"/>
                </a:solidFill>
                <a:latin typeface="Century Gothic"/>
                <a:cs typeface="Century Gothic"/>
              </a:rPr>
              <a:t>Lý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Văn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35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endParaRPr lang="vi-VN" sz="1750" b="1" spc="-35" dirty="0">
              <a:solidFill>
                <a:srgbClr val="383838"/>
              </a:solidFill>
              <a:latin typeface="Century Gothic"/>
              <a:cs typeface="Century Gothic"/>
            </a:endParaRPr>
          </a:p>
          <a:p>
            <a:pPr marL="85725" marR="5080" indent="-73660">
              <a:lnSpc>
                <a:spcPct val="135700"/>
              </a:lnSpc>
              <a:spcBef>
                <a:spcPts val="100"/>
              </a:spcBef>
            </a:pPr>
            <a:r>
              <a:rPr sz="1750" b="1" spc="110" dirty="0">
                <a:solidFill>
                  <a:srgbClr val="383838"/>
                </a:solidFill>
                <a:latin typeface="Century Gothic"/>
                <a:cs typeface="Century Gothic"/>
              </a:rPr>
              <a:t>K58KTP</a:t>
            </a:r>
            <a:endParaRPr sz="1750" dirty="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8" name="object 8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735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T</a:t>
            </a:r>
            <a:r>
              <a:rPr sz="4300" b="0" dirty="0">
                <a:latin typeface="Arial"/>
                <a:cs typeface="Arial"/>
              </a:rPr>
              <a:t>ổ</a:t>
            </a:r>
            <a:r>
              <a:rPr sz="4300" dirty="0"/>
              <a:t>ng</a:t>
            </a:r>
            <a:r>
              <a:rPr sz="4300" spc="245" dirty="0"/>
              <a:t> </a:t>
            </a:r>
            <a:r>
              <a:rPr sz="4300" spc="50" dirty="0"/>
              <a:t>quan</a:t>
            </a:r>
            <a:endParaRPr sz="4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1718" rIns="0" bIns="0" rtlCol="0">
            <a:spAutoFit/>
          </a:bodyPr>
          <a:lstStyle/>
          <a:p>
            <a:pPr marL="459740" indent="-3733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037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Khảo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sát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hệ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thống</a:t>
            </a:r>
          </a:p>
          <a:p>
            <a:pPr marL="459740" indent="-373380">
              <a:lnSpc>
                <a:spcPct val="100000"/>
              </a:lnSpc>
              <a:spcBef>
                <a:spcPts val="3320"/>
              </a:spcBef>
              <a:buAutoNum type="arabicPeriod"/>
              <a:tabLst>
                <a:tab pos="46037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Phân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tích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hệ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thống</a:t>
            </a:r>
          </a:p>
          <a:p>
            <a:pPr marL="483870" indent="-373380">
              <a:lnSpc>
                <a:spcPct val="100000"/>
              </a:lnSpc>
              <a:spcBef>
                <a:spcPts val="3469"/>
              </a:spcBef>
              <a:buAutoNum type="arabicPeriod"/>
              <a:tabLst>
                <a:tab pos="48450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Thiết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kế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hệ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thống</a:t>
            </a:r>
          </a:p>
          <a:p>
            <a:pPr marL="483870" indent="-373380">
              <a:lnSpc>
                <a:spcPct val="100000"/>
              </a:lnSpc>
              <a:spcBef>
                <a:spcPts val="3470"/>
              </a:spcBef>
              <a:buAutoNum type="arabicPeriod"/>
              <a:tabLst>
                <a:tab pos="48450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Cài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đặt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và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kiểm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thử</a:t>
            </a:r>
          </a:p>
          <a:p>
            <a:pPr marL="459740" indent="-373380">
              <a:lnSpc>
                <a:spcPct val="100000"/>
              </a:lnSpc>
              <a:spcBef>
                <a:spcPts val="3320"/>
              </a:spcBef>
              <a:buAutoNum type="arabicPeriod"/>
              <a:tabLst>
                <a:tab pos="460375" algn="l"/>
              </a:tabLst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Nhận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xét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đánh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giá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và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hướng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phát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triển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5" name="object 5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4171" y="0"/>
            <a:ext cx="6396228" cy="81351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Kh</a:t>
            </a:r>
            <a:r>
              <a:rPr sz="4300" b="0" dirty="0">
                <a:latin typeface="Arial"/>
                <a:cs typeface="Arial"/>
              </a:rPr>
              <a:t>ả</a:t>
            </a:r>
            <a:r>
              <a:rPr sz="4300" dirty="0"/>
              <a:t>o</a:t>
            </a:r>
            <a:r>
              <a:rPr sz="4300" spc="80" dirty="0"/>
              <a:t> </a:t>
            </a:r>
            <a:r>
              <a:rPr sz="4300" spc="175" dirty="0"/>
              <a:t>sát</a:t>
            </a:r>
            <a:r>
              <a:rPr sz="4300" spc="85" dirty="0"/>
              <a:t> </a:t>
            </a:r>
            <a:r>
              <a:rPr sz="4300" spc="50" dirty="0"/>
              <a:t>h</a:t>
            </a:r>
            <a:r>
              <a:rPr sz="4300" b="0" spc="50" dirty="0">
                <a:latin typeface="Arial"/>
                <a:cs typeface="Arial"/>
              </a:rPr>
              <a:t>ệ</a:t>
            </a:r>
            <a:r>
              <a:rPr sz="4300" b="0" spc="-35" dirty="0">
                <a:latin typeface="Arial"/>
                <a:cs typeface="Arial"/>
              </a:rPr>
              <a:t> </a:t>
            </a:r>
            <a:r>
              <a:rPr sz="4300" spc="95" dirty="0"/>
              <a:t>th</a:t>
            </a:r>
            <a:r>
              <a:rPr sz="4300" b="0" spc="95" dirty="0">
                <a:latin typeface="Arial"/>
                <a:cs typeface="Arial"/>
              </a:rPr>
              <a:t>ố</a:t>
            </a:r>
            <a:r>
              <a:rPr sz="4300" spc="95" dirty="0"/>
              <a:t>ng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055" y="1781175"/>
            <a:ext cx="5436235" cy="375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3000" spc="105" dirty="0">
                <a:solidFill>
                  <a:srgbClr val="383838"/>
                </a:solidFill>
                <a:latin typeface="Arial"/>
                <a:cs typeface="Arial"/>
              </a:rPr>
              <a:t>ự</a:t>
            </a:r>
            <a:r>
              <a:rPr sz="300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3000" b="1" spc="-1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spc="120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3000" spc="12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3000" b="1" spc="12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3000" b="1" spc="-1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spc="285" dirty="0">
                <a:solidFill>
                  <a:srgbClr val="383838"/>
                </a:solidFill>
                <a:latin typeface="Century Gothic"/>
                <a:cs typeface="Century Gothic"/>
              </a:rPr>
              <a:t>&amp;</a:t>
            </a:r>
            <a:r>
              <a:rPr sz="3000" b="1" spc="-1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V</a:t>
            </a:r>
            <a:r>
              <a:rPr sz="300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3000" b="1" spc="-1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3000" spc="-20" dirty="0">
                <a:solidFill>
                  <a:srgbClr val="383838"/>
                </a:solidFill>
                <a:latin typeface="Arial"/>
                <a:cs typeface="Arial"/>
              </a:rPr>
              <a:t>ề</a:t>
            </a:r>
            <a:r>
              <a:rPr sz="3000" spc="-13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3000" b="1" spc="55" dirty="0">
                <a:solidFill>
                  <a:srgbClr val="383838"/>
                </a:solidFill>
                <a:latin typeface="Century Gothic"/>
                <a:cs typeface="Century Gothic"/>
              </a:rPr>
              <a:t>Hi</a:t>
            </a:r>
            <a:r>
              <a:rPr sz="3000" spc="55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3000" b="1" spc="5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3000" b="1" spc="-1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spc="175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3000" spc="175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3000" b="1" spc="175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endParaRPr sz="30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30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spc="100" dirty="0">
                <a:solidFill>
                  <a:srgbClr val="383838"/>
                </a:solidFill>
                <a:latin typeface="Century Gothic"/>
                <a:cs typeface="Century Gothic"/>
              </a:rPr>
              <a:t>Tìm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ki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khó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khăn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Khó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tìm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phù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600" spc="-20" dirty="0">
                <a:solidFill>
                  <a:srgbClr val="383838"/>
                </a:solidFill>
                <a:latin typeface="Arial"/>
                <a:cs typeface="Arial"/>
              </a:rPr>
              <a:t>ợ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p.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Thi</a:t>
            </a:r>
            <a:r>
              <a:rPr sz="1600" spc="70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600" b="1" spc="-8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1600" spc="-7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ọ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600" b="1" spc="-8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chi</a:t>
            </a:r>
            <a:r>
              <a:rPr sz="160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ti</a:t>
            </a:r>
            <a:r>
              <a:rPr sz="1600" spc="70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t.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Thi</a:t>
            </a:r>
            <a:r>
              <a:rPr sz="1600" spc="70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90" dirty="0">
                <a:solidFill>
                  <a:srgbClr val="383838"/>
                </a:solidFill>
                <a:latin typeface="Century Gothic"/>
                <a:cs typeface="Century Gothic"/>
              </a:rPr>
              <a:t>tin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600" spc="-2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y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Không</a:t>
            </a:r>
            <a:r>
              <a:rPr sz="160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có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đánh</a:t>
            </a:r>
            <a:r>
              <a:rPr sz="160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giá.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ễ</a:t>
            </a:r>
            <a:r>
              <a:rPr sz="1600" spc="-7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"bom</a:t>
            </a:r>
            <a:r>
              <a:rPr sz="160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kèo".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Qu</a:t>
            </a:r>
            <a:r>
              <a:rPr sz="1600" spc="-2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60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lý</a:t>
            </a:r>
            <a:r>
              <a:rPr sz="16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kém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Khó</a:t>
            </a:r>
            <a:r>
              <a:rPr sz="160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theo</a:t>
            </a:r>
            <a:r>
              <a:rPr sz="160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dõi</a:t>
            </a:r>
            <a:r>
              <a:rPr sz="160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90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600" spc="90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600" b="1" spc="9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60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600" spc="-2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u.</a:t>
            </a:r>
            <a:endParaRPr sz="16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Thông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90" dirty="0">
                <a:solidFill>
                  <a:srgbClr val="383838"/>
                </a:solidFill>
                <a:latin typeface="Century Gothic"/>
                <a:cs typeface="Century Gothic"/>
              </a:rPr>
              <a:t>tin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55" dirty="0">
                <a:solidFill>
                  <a:srgbClr val="383838"/>
                </a:solidFill>
                <a:latin typeface="Century Gothic"/>
                <a:cs typeface="Century Gothic"/>
              </a:rPr>
              <a:t>r</a:t>
            </a:r>
            <a:r>
              <a:rPr sz="1600" spc="55" dirty="0">
                <a:solidFill>
                  <a:srgbClr val="383838"/>
                </a:solidFill>
                <a:latin typeface="Arial"/>
                <a:cs typeface="Arial"/>
              </a:rPr>
              <a:t>ờ</a:t>
            </a:r>
            <a:r>
              <a:rPr sz="1600" b="1" spc="55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60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r</a:t>
            </a:r>
            <a:r>
              <a:rPr sz="1600" spc="-2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c.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6" name="object 6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8484" y="1999615"/>
            <a:ext cx="5575300" cy="425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Gi</a:t>
            </a:r>
            <a:r>
              <a:rPr sz="300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3000" b="1" spc="-1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Pháp</a:t>
            </a:r>
            <a:r>
              <a:rPr sz="3000" b="1" spc="-1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spc="285" dirty="0">
                <a:solidFill>
                  <a:srgbClr val="383838"/>
                </a:solidFill>
                <a:latin typeface="Century Gothic"/>
                <a:cs typeface="Century Gothic"/>
              </a:rPr>
              <a:t>&amp;</a:t>
            </a:r>
            <a:r>
              <a:rPr sz="3000" b="1" spc="-1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Yêu</a:t>
            </a:r>
            <a:r>
              <a:rPr sz="3000" b="1" spc="-1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3000" spc="-20" dirty="0">
                <a:solidFill>
                  <a:srgbClr val="383838"/>
                </a:solidFill>
                <a:latin typeface="Arial"/>
                <a:cs typeface="Arial"/>
              </a:rPr>
              <a:t>ầ</a:t>
            </a:r>
            <a:r>
              <a:rPr sz="3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3000" b="1" spc="-1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300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300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3000" spc="-14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30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3000" spc="7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30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endParaRPr sz="3000">
              <a:latin typeface="Century Gothic"/>
              <a:cs typeface="Century Gothic"/>
            </a:endParaRPr>
          </a:p>
          <a:p>
            <a:pPr marL="297815" indent="-285115">
              <a:lnSpc>
                <a:spcPct val="100000"/>
              </a:lnSpc>
              <a:spcBef>
                <a:spcPts val="2655"/>
              </a:spcBef>
              <a:buFont typeface="Arial"/>
              <a:buChar char="•"/>
              <a:tabLst>
                <a:tab pos="297815" algn="l"/>
              </a:tabLst>
            </a:pPr>
            <a:r>
              <a:rPr sz="2000" b="1" spc="130" dirty="0">
                <a:solidFill>
                  <a:srgbClr val="383838"/>
                </a:solidFill>
                <a:latin typeface="Century Gothic"/>
                <a:cs typeface="Century Gothic"/>
              </a:rPr>
              <a:t>Tìm</a:t>
            </a:r>
            <a:r>
              <a:rPr sz="200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ki</a:t>
            </a:r>
            <a:r>
              <a:rPr sz="2000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20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thông</a:t>
            </a:r>
            <a:r>
              <a:rPr sz="20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minh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Lọc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môn,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tuổi,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vị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trí.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2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Qu</a:t>
            </a:r>
            <a:r>
              <a:rPr sz="2000" spc="-2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2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20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lý</a:t>
            </a:r>
            <a:r>
              <a:rPr sz="200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spc="85" dirty="0">
                <a:solidFill>
                  <a:srgbClr val="383838"/>
                </a:solidFill>
                <a:latin typeface="Century Gothic"/>
                <a:cs typeface="Century Gothic"/>
              </a:rPr>
              <a:t>s</a:t>
            </a:r>
            <a:r>
              <a:rPr sz="2000" spc="85" dirty="0">
                <a:solidFill>
                  <a:srgbClr val="383838"/>
                </a:solidFill>
                <a:latin typeface="Arial"/>
                <a:cs typeface="Arial"/>
              </a:rPr>
              <a:t>ự</a:t>
            </a:r>
            <a:r>
              <a:rPr sz="2000" spc="-5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ki</a:t>
            </a:r>
            <a:r>
              <a:rPr sz="2000" spc="-2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20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spc="-45" dirty="0">
                <a:latin typeface="Calibri"/>
                <a:cs typeface="Calibri"/>
              </a:rPr>
              <a:t>Tạo,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dõi,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thông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báo.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2000" b="1" spc="55" dirty="0">
                <a:solidFill>
                  <a:srgbClr val="383838"/>
                </a:solidFill>
                <a:latin typeface="Century Gothic"/>
                <a:cs typeface="Century Gothic"/>
              </a:rPr>
              <a:t>Theo</a:t>
            </a:r>
            <a:r>
              <a:rPr sz="200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dõi</a:t>
            </a:r>
            <a:r>
              <a:rPr sz="20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thành</a:t>
            </a:r>
            <a:r>
              <a:rPr sz="200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spc="45" dirty="0">
                <a:solidFill>
                  <a:srgbClr val="383838"/>
                </a:solidFill>
                <a:latin typeface="Century Gothic"/>
                <a:cs typeface="Century Gothic"/>
              </a:rPr>
              <a:t>tích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Lưu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kết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quả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cá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nhân/nhóm.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200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o</a:t>
            </a:r>
            <a:r>
              <a:rPr sz="200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spc="80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2000" spc="80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200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20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383838"/>
                </a:solidFill>
                <a:latin typeface="Century Gothic"/>
                <a:cs typeface="Century Gothic"/>
              </a:rPr>
              <a:t>thông</a:t>
            </a:r>
            <a:r>
              <a:rPr sz="20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2000" b="1" spc="95" dirty="0">
                <a:solidFill>
                  <a:srgbClr val="383838"/>
                </a:solidFill>
                <a:latin typeface="Century Gothic"/>
                <a:cs typeface="Century Gothic"/>
              </a:rPr>
              <a:t>tin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Bảo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vệ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dữ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liệu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người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dùng.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Kh</a:t>
            </a:r>
            <a:r>
              <a:rPr sz="4300" b="0" dirty="0">
                <a:latin typeface="Arial"/>
                <a:cs typeface="Arial"/>
              </a:rPr>
              <a:t>ả</a:t>
            </a:r>
            <a:r>
              <a:rPr sz="4300" dirty="0"/>
              <a:t>o</a:t>
            </a:r>
            <a:r>
              <a:rPr sz="4300" spc="80" dirty="0"/>
              <a:t> </a:t>
            </a:r>
            <a:r>
              <a:rPr sz="4300" spc="175" dirty="0"/>
              <a:t>sát</a:t>
            </a:r>
            <a:r>
              <a:rPr sz="4300" spc="85" dirty="0"/>
              <a:t> </a:t>
            </a:r>
            <a:r>
              <a:rPr sz="4300" spc="50" dirty="0"/>
              <a:t>h</a:t>
            </a:r>
            <a:r>
              <a:rPr sz="4300" b="0" spc="50" dirty="0">
                <a:latin typeface="Arial"/>
                <a:cs typeface="Arial"/>
              </a:rPr>
              <a:t>ệ</a:t>
            </a:r>
            <a:r>
              <a:rPr sz="4300" b="0" spc="-35" dirty="0">
                <a:latin typeface="Arial"/>
                <a:cs typeface="Arial"/>
              </a:rPr>
              <a:t> </a:t>
            </a:r>
            <a:r>
              <a:rPr sz="4300" spc="95" dirty="0"/>
              <a:t>th</a:t>
            </a:r>
            <a:r>
              <a:rPr sz="4300" b="0" spc="95" dirty="0">
                <a:latin typeface="Arial"/>
                <a:cs typeface="Arial"/>
              </a:rPr>
              <a:t>ố</a:t>
            </a:r>
            <a:r>
              <a:rPr sz="4300" spc="95" dirty="0"/>
              <a:t>ng</a:t>
            </a:r>
            <a:endParaRPr sz="43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0"/>
            <a:ext cx="14629765" cy="8229600"/>
            <a:chOff x="761" y="0"/>
            <a:chExt cx="14629765" cy="8229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680" y="0"/>
              <a:ext cx="5760720" cy="8229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140" dirty="0"/>
              <a:t>Phân</a:t>
            </a:r>
            <a:r>
              <a:rPr sz="4300" spc="95" dirty="0"/>
              <a:t> </a:t>
            </a:r>
            <a:r>
              <a:rPr sz="4300" spc="125" dirty="0"/>
              <a:t>tích</a:t>
            </a:r>
            <a:r>
              <a:rPr sz="4300" spc="100" dirty="0"/>
              <a:t> </a:t>
            </a:r>
            <a:r>
              <a:rPr sz="4300" spc="50" dirty="0"/>
              <a:t>h</a:t>
            </a:r>
            <a:r>
              <a:rPr sz="4300" b="0" spc="50" dirty="0">
                <a:latin typeface="Arial"/>
                <a:cs typeface="Arial"/>
              </a:rPr>
              <a:t>ệ</a:t>
            </a:r>
            <a:r>
              <a:rPr sz="4300" b="0" spc="-25" dirty="0">
                <a:latin typeface="Arial"/>
                <a:cs typeface="Arial"/>
              </a:rPr>
              <a:t> </a:t>
            </a:r>
            <a:r>
              <a:rPr sz="4300" spc="95" dirty="0"/>
              <a:t>th</a:t>
            </a:r>
            <a:r>
              <a:rPr sz="4300" b="0" spc="95" dirty="0">
                <a:latin typeface="Arial"/>
                <a:cs typeface="Arial"/>
              </a:rPr>
              <a:t>ố</a:t>
            </a:r>
            <a:r>
              <a:rPr sz="4300" spc="95" dirty="0"/>
              <a:t>ng</a:t>
            </a:r>
            <a:endParaRPr sz="4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</a:t>
            </a:r>
            <a:r>
              <a:rPr b="0" dirty="0">
                <a:latin typeface="Arial"/>
                <a:cs typeface="Arial"/>
              </a:rPr>
              <a:t>ươ</a:t>
            </a:r>
            <a:r>
              <a:rPr dirty="0"/>
              <a:t>ng</a:t>
            </a:r>
            <a:r>
              <a:rPr spc="-125" dirty="0"/>
              <a:t> </a:t>
            </a:r>
            <a:r>
              <a:rPr spc="-50" dirty="0"/>
              <a:t>pháp</a:t>
            </a:r>
            <a:r>
              <a:rPr spc="-120" dirty="0"/>
              <a:t> </a:t>
            </a:r>
            <a:r>
              <a:rPr spc="-35" dirty="0"/>
              <a:t>phân</a:t>
            </a:r>
            <a:r>
              <a:rPr spc="-125" dirty="0"/>
              <a:t> </a:t>
            </a:r>
            <a:r>
              <a:rPr spc="95" dirty="0"/>
              <a:t>tích</a:t>
            </a:r>
            <a:r>
              <a:rPr spc="-120" dirty="0"/>
              <a:t> </a:t>
            </a:r>
            <a:r>
              <a:rPr dirty="0"/>
              <a:t>h</a:t>
            </a:r>
            <a:r>
              <a:rPr b="0" dirty="0">
                <a:latin typeface="Arial"/>
                <a:cs typeface="Arial"/>
              </a:rPr>
              <a:t>ệ</a:t>
            </a:r>
            <a:r>
              <a:rPr b="0" spc="-120" dirty="0">
                <a:latin typeface="Arial"/>
                <a:cs typeface="Arial"/>
              </a:rPr>
              <a:t> </a:t>
            </a:r>
            <a:r>
              <a:rPr spc="45" dirty="0"/>
              <a:t>th</a:t>
            </a:r>
            <a:r>
              <a:rPr b="0" spc="45" dirty="0">
                <a:latin typeface="Arial"/>
                <a:cs typeface="Arial"/>
              </a:rPr>
              <a:t>ố</a:t>
            </a:r>
            <a:r>
              <a:rPr spc="45" dirty="0"/>
              <a:t>ng</a:t>
            </a:r>
          </a:p>
          <a:p>
            <a:pPr marL="297815" indent="-285115">
              <a:lnSpc>
                <a:spcPct val="100000"/>
              </a:lnSpc>
              <a:spcBef>
                <a:spcPts val="2655"/>
              </a:spcBef>
              <a:buFont typeface="Arial"/>
              <a:buChar char="•"/>
              <a:tabLst>
                <a:tab pos="297815" algn="l"/>
              </a:tabLst>
            </a:pPr>
            <a:r>
              <a:rPr sz="2000" spc="50" dirty="0"/>
              <a:t>DFD</a:t>
            </a:r>
            <a:r>
              <a:rPr sz="2000" spc="-105" dirty="0"/>
              <a:t> </a:t>
            </a:r>
            <a:r>
              <a:rPr sz="2000" spc="-20" dirty="0"/>
              <a:t>m</a:t>
            </a:r>
            <a:r>
              <a:rPr sz="2000" b="0" spc="-20" dirty="0">
                <a:latin typeface="Arial"/>
                <a:cs typeface="Arial"/>
              </a:rPr>
              <a:t>ứ</a:t>
            </a:r>
            <a:r>
              <a:rPr sz="2000" spc="-20" dirty="0"/>
              <a:t>c</a:t>
            </a:r>
            <a:r>
              <a:rPr sz="2000" spc="-105" dirty="0"/>
              <a:t> </a:t>
            </a:r>
            <a:r>
              <a:rPr sz="2000" spc="-10" dirty="0"/>
              <a:t>khung</a:t>
            </a:r>
            <a:r>
              <a:rPr sz="2000" spc="-105" dirty="0"/>
              <a:t> </a:t>
            </a:r>
            <a:r>
              <a:rPr sz="2000" spc="-20" dirty="0"/>
              <a:t>c</a:t>
            </a:r>
            <a:r>
              <a:rPr sz="2000" b="0" spc="-20" dirty="0">
                <a:latin typeface="Arial"/>
                <a:cs typeface="Arial"/>
              </a:rPr>
              <a:t>ả</a:t>
            </a:r>
            <a:r>
              <a:rPr sz="2000" spc="-20" dirty="0"/>
              <a:t>nh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Hệ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thống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là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một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tiến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trình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duy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nhất,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thể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hiện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luồng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dữ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liệu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25" dirty="0">
                <a:solidFill>
                  <a:srgbClr val="000000"/>
                </a:solidFill>
                <a:latin typeface="Calibri"/>
                <a:cs typeface="Calibri"/>
              </a:rPr>
              <a:t>với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thực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thể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bên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Calibri"/>
                <a:cs typeface="Calibri"/>
              </a:rPr>
              <a:t>ngoài.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2000" spc="50" dirty="0"/>
              <a:t>DFD</a:t>
            </a:r>
            <a:r>
              <a:rPr sz="2000" spc="-100" dirty="0"/>
              <a:t> </a:t>
            </a:r>
            <a:r>
              <a:rPr sz="2000" spc="-20" dirty="0"/>
              <a:t>m</a:t>
            </a:r>
            <a:r>
              <a:rPr sz="2000" b="0" spc="-20" dirty="0">
                <a:latin typeface="Arial"/>
                <a:cs typeface="Arial"/>
              </a:rPr>
              <a:t>ứ</a:t>
            </a:r>
            <a:r>
              <a:rPr sz="2000" spc="-20" dirty="0"/>
              <a:t>c</a:t>
            </a:r>
            <a:r>
              <a:rPr sz="2000" spc="-100" dirty="0"/>
              <a:t> </a:t>
            </a:r>
            <a:r>
              <a:rPr sz="2000" spc="-20" dirty="0"/>
              <a:t>đ</a:t>
            </a:r>
            <a:r>
              <a:rPr sz="2000" b="0" spc="-20" dirty="0">
                <a:latin typeface="Arial"/>
                <a:cs typeface="Arial"/>
              </a:rPr>
              <a:t>ỉ</a:t>
            </a:r>
            <a:r>
              <a:rPr sz="2000" spc="-20" dirty="0"/>
              <a:t>nh</a:t>
            </a:r>
            <a:endParaRPr sz="2000">
              <a:latin typeface="Arial"/>
              <a:cs typeface="Arial"/>
            </a:endParaRPr>
          </a:p>
          <a:p>
            <a:pPr marL="12700" marR="192405">
              <a:lnSpc>
                <a:spcPct val="100000"/>
              </a:lnSpc>
              <a:spcBef>
                <a:spcPts val="40"/>
              </a:spcBef>
            </a:pP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Phân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rã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hệ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thống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thành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chức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năng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con,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chi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tiết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luồng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dữ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20" dirty="0">
                <a:solidFill>
                  <a:srgbClr val="000000"/>
                </a:solidFill>
                <a:latin typeface="Calibri"/>
                <a:cs typeface="Calibri"/>
              </a:rPr>
              <a:t>liệu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và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kho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dữ</a:t>
            </a: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20" dirty="0">
                <a:solidFill>
                  <a:srgbClr val="000000"/>
                </a:solidFill>
                <a:latin typeface="Calibri"/>
                <a:cs typeface="Calibri"/>
              </a:rPr>
              <a:t>liệu.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2000" spc="140" dirty="0"/>
              <a:t>Top-</a:t>
            </a:r>
            <a:r>
              <a:rPr sz="2000" spc="-20" dirty="0"/>
              <a:t>Down</a:t>
            </a:r>
            <a:endParaRPr sz="2000"/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Từ</a:t>
            </a:r>
            <a:r>
              <a:rPr sz="20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tổng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thể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đến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chi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tiết,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kiểm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soát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phạm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vi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hệ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Calibri"/>
                <a:cs typeface="Calibri"/>
              </a:rPr>
              <a:t>thống.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2000" spc="110" dirty="0"/>
              <a:t>Bottom-</a:t>
            </a:r>
            <a:r>
              <a:rPr sz="2000" spc="-25" dirty="0"/>
              <a:t>Up</a:t>
            </a:r>
            <a:endParaRPr sz="2000"/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b="0" spc="-30" dirty="0">
                <a:solidFill>
                  <a:srgbClr val="000000"/>
                </a:solidFill>
                <a:latin typeface="Calibri"/>
                <a:cs typeface="Calibri"/>
              </a:rPr>
              <a:t>Từ</a:t>
            </a:r>
            <a:r>
              <a:rPr sz="20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chi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tiết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đến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tổng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thể,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phù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hợp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với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module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có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20" dirty="0">
                <a:solidFill>
                  <a:srgbClr val="000000"/>
                </a:solidFill>
                <a:latin typeface="Calibri"/>
                <a:cs typeface="Calibri"/>
              </a:rPr>
              <a:t>sẵn.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5" name="object 5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8" y="1453946"/>
            <a:ext cx="399097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Thông</a:t>
            </a:r>
            <a:r>
              <a:rPr spc="95" dirty="0"/>
              <a:t> </a:t>
            </a:r>
            <a:r>
              <a:rPr spc="135" dirty="0"/>
              <a:t>tin</a:t>
            </a:r>
            <a:r>
              <a:rPr spc="95" dirty="0"/>
              <a:t> </a:t>
            </a:r>
            <a:r>
              <a:rPr spc="70" dirty="0"/>
              <a:t>vào</a:t>
            </a:r>
          </a:p>
        </p:txBody>
      </p:sp>
      <p:sp>
        <p:nvSpPr>
          <p:cNvPr id="4" name="object 4"/>
          <p:cNvSpPr/>
          <p:nvPr/>
        </p:nvSpPr>
        <p:spPr>
          <a:xfrm>
            <a:off x="794004" y="3211067"/>
            <a:ext cx="3665220" cy="2032000"/>
          </a:xfrm>
          <a:custGeom>
            <a:avLst/>
            <a:gdLst/>
            <a:ahLst/>
            <a:cxnLst/>
            <a:rect l="l" t="t" r="r" b="b"/>
            <a:pathLst>
              <a:path w="3665220" h="2032000">
                <a:moveTo>
                  <a:pt x="3630168" y="2031491"/>
                </a:moveTo>
                <a:lnTo>
                  <a:pt x="33527" y="2031491"/>
                </a:lnTo>
                <a:lnTo>
                  <a:pt x="20452" y="2029160"/>
                </a:lnTo>
                <a:lnTo>
                  <a:pt x="9744" y="2022033"/>
                </a:lnTo>
                <a:lnTo>
                  <a:pt x="2545" y="2011253"/>
                </a:lnTo>
                <a:lnTo>
                  <a:pt x="0" y="1997964"/>
                </a:lnTo>
                <a:lnTo>
                  <a:pt x="0" y="33527"/>
                </a:lnTo>
                <a:lnTo>
                  <a:pt x="2545" y="20195"/>
                </a:lnTo>
                <a:lnTo>
                  <a:pt x="9744" y="9401"/>
                </a:lnTo>
                <a:lnTo>
                  <a:pt x="20452" y="2288"/>
                </a:lnTo>
                <a:lnTo>
                  <a:pt x="33527" y="0"/>
                </a:lnTo>
                <a:lnTo>
                  <a:pt x="3630168" y="0"/>
                </a:lnTo>
                <a:lnTo>
                  <a:pt x="3643617" y="2288"/>
                </a:lnTo>
                <a:lnTo>
                  <a:pt x="3654609" y="9401"/>
                </a:lnTo>
                <a:lnTo>
                  <a:pt x="3662143" y="20195"/>
                </a:lnTo>
                <a:lnTo>
                  <a:pt x="3665220" y="33527"/>
                </a:lnTo>
                <a:lnTo>
                  <a:pt x="3665220" y="1997964"/>
                </a:lnTo>
                <a:lnTo>
                  <a:pt x="3662143" y="2011253"/>
                </a:lnTo>
                <a:lnTo>
                  <a:pt x="3654609" y="2022033"/>
                </a:lnTo>
                <a:lnTo>
                  <a:pt x="3643617" y="2029160"/>
                </a:lnTo>
                <a:lnTo>
                  <a:pt x="3630168" y="2031491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910" y="3432137"/>
            <a:ext cx="3025775" cy="1565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Thông</a:t>
            </a:r>
            <a:r>
              <a:rPr sz="2300" b="1" spc="1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tin</a:t>
            </a:r>
            <a:r>
              <a:rPr sz="2300" b="1" spc="13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i</a:t>
            </a:r>
            <a:r>
              <a:rPr sz="2300" b="1" spc="13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ch</a:t>
            </a:r>
            <a:r>
              <a:rPr sz="2300" spc="-20" dirty="0">
                <a:solidFill>
                  <a:srgbClr val="383838"/>
                </a:solidFill>
                <a:latin typeface="Arial"/>
                <a:cs typeface="Arial"/>
              </a:rPr>
              <a:t>ơ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i</a:t>
            </a:r>
            <a:endParaRPr sz="2300">
              <a:latin typeface="Palatino Linotype"/>
              <a:cs typeface="Palatino Linotype"/>
            </a:endParaRPr>
          </a:p>
          <a:p>
            <a:pPr marL="12700" marR="85090">
              <a:lnSpc>
                <a:spcPct val="135700"/>
              </a:lnSpc>
              <a:spcBef>
                <a:spcPts val="805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ữ</a:t>
            </a:r>
            <a:r>
              <a:rPr sz="1750" spc="-5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li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đăng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ký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tài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kho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n,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ị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nh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danh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ơ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i,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g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ợ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ý </a:t>
            </a:r>
            <a:r>
              <a:rPr sz="1750" b="1" spc="9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9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9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u.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4776" y="3211067"/>
            <a:ext cx="3665220" cy="2032000"/>
          </a:xfrm>
          <a:custGeom>
            <a:avLst/>
            <a:gdLst/>
            <a:ahLst/>
            <a:cxnLst/>
            <a:rect l="l" t="t" r="r" b="b"/>
            <a:pathLst>
              <a:path w="3665220" h="2032000">
                <a:moveTo>
                  <a:pt x="3631692" y="2031491"/>
                </a:moveTo>
                <a:lnTo>
                  <a:pt x="35051" y="2031491"/>
                </a:lnTo>
                <a:lnTo>
                  <a:pt x="21538" y="2029160"/>
                </a:lnTo>
                <a:lnTo>
                  <a:pt x="10525" y="2022033"/>
                </a:lnTo>
                <a:lnTo>
                  <a:pt x="3012" y="2011253"/>
                </a:lnTo>
                <a:lnTo>
                  <a:pt x="0" y="1997964"/>
                </a:lnTo>
                <a:lnTo>
                  <a:pt x="0" y="33527"/>
                </a:lnTo>
                <a:lnTo>
                  <a:pt x="3012" y="20195"/>
                </a:lnTo>
                <a:lnTo>
                  <a:pt x="10525" y="9401"/>
                </a:lnTo>
                <a:lnTo>
                  <a:pt x="21538" y="2288"/>
                </a:lnTo>
                <a:lnTo>
                  <a:pt x="35051" y="0"/>
                </a:lnTo>
                <a:lnTo>
                  <a:pt x="3631692" y="0"/>
                </a:lnTo>
                <a:lnTo>
                  <a:pt x="3644767" y="2288"/>
                </a:lnTo>
                <a:lnTo>
                  <a:pt x="3655475" y="9401"/>
                </a:lnTo>
                <a:lnTo>
                  <a:pt x="3662674" y="20195"/>
                </a:lnTo>
                <a:lnTo>
                  <a:pt x="3665220" y="33527"/>
                </a:lnTo>
                <a:lnTo>
                  <a:pt x="3665220" y="1997964"/>
                </a:lnTo>
                <a:lnTo>
                  <a:pt x="3662674" y="2011253"/>
                </a:lnTo>
                <a:lnTo>
                  <a:pt x="3655475" y="2022033"/>
                </a:lnTo>
                <a:lnTo>
                  <a:pt x="3644767" y="2029160"/>
                </a:lnTo>
                <a:lnTo>
                  <a:pt x="3631692" y="2031491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99456" y="3432137"/>
            <a:ext cx="3281679" cy="1203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Thông</a:t>
            </a:r>
            <a:r>
              <a:rPr sz="2300" b="1" spc="114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tin</a:t>
            </a:r>
            <a:r>
              <a:rPr sz="2300" b="1" spc="12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t</a:t>
            </a:r>
            <a:r>
              <a:rPr sz="2300" spc="75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o</a:t>
            </a:r>
            <a:r>
              <a:rPr sz="2300" b="1" spc="114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tr</a:t>
            </a:r>
            <a:r>
              <a:rPr sz="2300" spc="5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230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endParaRPr sz="2300">
              <a:latin typeface="Palatino Linotype"/>
              <a:cs typeface="Palatino Linotype"/>
            </a:endParaRPr>
          </a:p>
          <a:p>
            <a:pPr marL="12700" marR="5080">
              <a:lnSpc>
                <a:spcPct val="135700"/>
              </a:lnSpc>
              <a:spcBef>
                <a:spcPts val="805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dung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9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9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9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u: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môn,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spc="50" dirty="0">
                <a:solidFill>
                  <a:srgbClr val="383838"/>
                </a:solidFill>
                <a:latin typeface="Arial"/>
                <a:cs typeface="Arial"/>
              </a:rPr>
              <a:t>ờ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i 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gian,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spc="-30" dirty="0">
                <a:solidFill>
                  <a:srgbClr val="383838"/>
                </a:solidFill>
                <a:latin typeface="Arial"/>
                <a:cs typeface="Arial"/>
              </a:rPr>
              <a:t>ị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a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m,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0" dirty="0">
                <a:solidFill>
                  <a:srgbClr val="383838"/>
                </a:solidFill>
                <a:latin typeface="Century Gothic"/>
                <a:cs typeface="Century Gothic"/>
              </a:rPr>
              <a:t>s</a:t>
            </a:r>
            <a:r>
              <a:rPr sz="1750" spc="7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spc="-6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i.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4004" y="5469635"/>
            <a:ext cx="7556500" cy="1308100"/>
          </a:xfrm>
          <a:custGeom>
            <a:avLst/>
            <a:gdLst/>
            <a:ahLst/>
            <a:cxnLst/>
            <a:rect l="l" t="t" r="r" b="b"/>
            <a:pathLst>
              <a:path w="7556500" h="1308100">
                <a:moveTo>
                  <a:pt x="7522464" y="1307591"/>
                </a:moveTo>
                <a:lnTo>
                  <a:pt x="33527" y="1307591"/>
                </a:lnTo>
                <a:lnTo>
                  <a:pt x="20447" y="1304729"/>
                </a:lnTo>
                <a:lnTo>
                  <a:pt x="9739" y="1297266"/>
                </a:lnTo>
                <a:lnTo>
                  <a:pt x="2543" y="1286203"/>
                </a:lnTo>
                <a:lnTo>
                  <a:pt x="0" y="1272539"/>
                </a:lnTo>
                <a:lnTo>
                  <a:pt x="0" y="35051"/>
                </a:lnTo>
                <a:lnTo>
                  <a:pt x="2543" y="21402"/>
                </a:lnTo>
                <a:lnTo>
                  <a:pt x="9739" y="10344"/>
                </a:lnTo>
                <a:lnTo>
                  <a:pt x="20447" y="2876"/>
                </a:lnTo>
                <a:lnTo>
                  <a:pt x="33527" y="0"/>
                </a:lnTo>
                <a:lnTo>
                  <a:pt x="7522464" y="0"/>
                </a:lnTo>
                <a:lnTo>
                  <a:pt x="7535544" y="2876"/>
                </a:lnTo>
                <a:lnTo>
                  <a:pt x="7546252" y="10344"/>
                </a:lnTo>
                <a:lnTo>
                  <a:pt x="7553448" y="21402"/>
                </a:lnTo>
                <a:lnTo>
                  <a:pt x="7555992" y="35051"/>
                </a:lnTo>
                <a:lnTo>
                  <a:pt x="7555992" y="1272539"/>
                </a:lnTo>
                <a:lnTo>
                  <a:pt x="7553448" y="1286203"/>
                </a:lnTo>
                <a:lnTo>
                  <a:pt x="7546252" y="1297266"/>
                </a:lnTo>
                <a:lnTo>
                  <a:pt x="7535544" y="1304729"/>
                </a:lnTo>
                <a:lnTo>
                  <a:pt x="7522464" y="1307591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7910" y="5691708"/>
            <a:ext cx="5834380" cy="841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Thông</a:t>
            </a:r>
            <a:r>
              <a:rPr sz="2300" b="1" spc="1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tin</a:t>
            </a:r>
            <a:r>
              <a:rPr sz="2300" b="1" spc="114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i</a:t>
            </a:r>
            <a:r>
              <a:rPr sz="2300" b="1" spc="114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95" dirty="0">
                <a:solidFill>
                  <a:srgbClr val="383838"/>
                </a:solidFill>
                <a:latin typeface="Palatino Linotype"/>
                <a:cs typeface="Palatino Linotype"/>
              </a:rPr>
              <a:t>tham</a:t>
            </a:r>
            <a:r>
              <a:rPr sz="2300" b="1" spc="114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gia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Yêu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ầ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tham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gia,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qu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lý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0" dirty="0">
                <a:solidFill>
                  <a:srgbClr val="383838"/>
                </a:solidFill>
                <a:latin typeface="Century Gothic"/>
                <a:cs typeface="Century Gothic"/>
              </a:rPr>
              <a:t>s</a:t>
            </a:r>
            <a:r>
              <a:rPr sz="1750" spc="7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spc="-5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ng,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ki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tra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ề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ki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n.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11" name="object 11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539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Thông</a:t>
            </a:r>
            <a:r>
              <a:rPr spc="95" dirty="0"/>
              <a:t> </a:t>
            </a:r>
            <a:r>
              <a:rPr spc="135" dirty="0"/>
              <a:t>tin</a:t>
            </a:r>
            <a:r>
              <a:rPr spc="95" dirty="0"/>
              <a:t> </a:t>
            </a:r>
            <a:r>
              <a:rPr spc="190" dirty="0"/>
              <a:t>ra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992" y="2449333"/>
            <a:ext cx="513499" cy="4368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0355" y="2524289"/>
            <a:ext cx="1579880" cy="2224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04139">
              <a:lnSpc>
                <a:spcPts val="2900"/>
              </a:lnSpc>
              <a:spcBef>
                <a:spcPts val="8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Danh</a:t>
            </a:r>
            <a:r>
              <a:rPr sz="2300" b="1" spc="7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45" dirty="0">
                <a:solidFill>
                  <a:srgbClr val="383838"/>
                </a:solidFill>
                <a:latin typeface="Palatino Linotype"/>
                <a:cs typeface="Palatino Linotype"/>
              </a:rPr>
              <a:t>sách 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tr</a:t>
            </a:r>
            <a:r>
              <a:rPr sz="2300" spc="7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r>
              <a:rPr sz="230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spc="-25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u</a:t>
            </a:r>
            <a:endParaRPr sz="2300">
              <a:latin typeface="Palatino Linotype"/>
              <a:cs typeface="Palatino Linotype"/>
            </a:endParaRPr>
          </a:p>
          <a:p>
            <a:pPr marL="12700" marR="5080">
              <a:lnSpc>
                <a:spcPct val="135700"/>
              </a:lnSpc>
              <a:spcBef>
                <a:spcPts val="125"/>
              </a:spcBef>
            </a:pPr>
            <a:r>
              <a:rPr sz="1750" b="1" spc="114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114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114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đang 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spc="-35" dirty="0">
                <a:solidFill>
                  <a:srgbClr val="383838"/>
                </a:solidFill>
                <a:latin typeface="Arial"/>
                <a:cs typeface="Arial"/>
              </a:rPr>
              <a:t>ở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,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thông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tin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chi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85" dirty="0">
                <a:solidFill>
                  <a:srgbClr val="383838"/>
                </a:solidFill>
                <a:latin typeface="Century Gothic"/>
                <a:cs typeface="Century Gothic"/>
              </a:rPr>
              <a:t>ti</a:t>
            </a:r>
            <a:r>
              <a:rPr sz="1750" spc="85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1750" b="1" spc="85" dirty="0">
                <a:solidFill>
                  <a:srgbClr val="383838"/>
                </a:solidFill>
                <a:latin typeface="Century Gothic"/>
                <a:cs typeface="Century Gothic"/>
              </a:rPr>
              <a:t>t,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ọ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c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theo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55" dirty="0">
                <a:solidFill>
                  <a:srgbClr val="383838"/>
                </a:solidFill>
                <a:latin typeface="Century Gothic"/>
                <a:cs typeface="Century Gothic"/>
              </a:rPr>
              <a:t>tiêu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chí.</a:t>
            </a:r>
            <a:endParaRPr sz="1750">
              <a:latin typeface="Century Gothic"/>
              <a:cs typeface="Century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6272" y="2434004"/>
            <a:ext cx="490507" cy="4751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63059" y="2524289"/>
            <a:ext cx="1584960" cy="2224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06705">
              <a:lnSpc>
                <a:spcPts val="2900"/>
              </a:lnSpc>
              <a:spcBef>
                <a:spcPts val="8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Đánh</a:t>
            </a:r>
            <a:r>
              <a:rPr sz="2300" b="1" spc="9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giá 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tr</a:t>
            </a:r>
            <a:r>
              <a:rPr sz="2300" spc="7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2300" b="1" spc="75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r>
              <a:rPr sz="230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spc="-25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u</a:t>
            </a:r>
            <a:endParaRPr sz="2300">
              <a:latin typeface="Palatino Linotype"/>
              <a:cs typeface="Palatino Linotype"/>
            </a:endParaRPr>
          </a:p>
          <a:p>
            <a:pPr marL="12700" marR="5080">
              <a:lnSpc>
                <a:spcPct val="135700"/>
              </a:lnSpc>
              <a:spcBef>
                <a:spcPts val="125"/>
              </a:spcBef>
            </a:pP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b="1" spc="-9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đi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m,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xét,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i </a:t>
            </a:r>
            <a:r>
              <a:rPr sz="1750" b="1" spc="60" dirty="0">
                <a:solidFill>
                  <a:srgbClr val="383838"/>
                </a:solidFill>
                <a:latin typeface="Century Gothic"/>
                <a:cs typeface="Century Gothic"/>
              </a:rPr>
              <a:t>thi</a:t>
            </a:r>
            <a:r>
              <a:rPr sz="1750" spc="6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spc="6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t l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1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10" dirty="0">
                <a:solidFill>
                  <a:srgbClr val="383838"/>
                </a:solidFill>
                <a:latin typeface="Arial"/>
                <a:cs typeface="Arial"/>
              </a:rPr>
              <a:t>ổ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ứ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c.</a:t>
            </a:r>
            <a:endParaRPr sz="1750">
              <a:latin typeface="Century Gothic"/>
              <a:cs typeface="Century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56552" y="2403348"/>
            <a:ext cx="467514" cy="5288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05777" y="2524289"/>
            <a:ext cx="1558925" cy="2224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85"/>
              </a:spcBef>
            </a:pPr>
            <a:r>
              <a:rPr sz="2300" b="1" spc="-30" dirty="0">
                <a:solidFill>
                  <a:srgbClr val="383838"/>
                </a:solidFill>
                <a:latin typeface="Palatino Linotype"/>
                <a:cs typeface="Palatino Linotype"/>
              </a:rPr>
              <a:t>H</a:t>
            </a:r>
            <a:r>
              <a:rPr sz="2300" spc="-3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2300" spc="-12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s</a:t>
            </a:r>
            <a:r>
              <a:rPr sz="2300" spc="-25" dirty="0">
                <a:solidFill>
                  <a:srgbClr val="383838"/>
                </a:solidFill>
                <a:latin typeface="Arial"/>
                <a:cs typeface="Arial"/>
              </a:rPr>
              <a:t>ơ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i</a:t>
            </a:r>
            <a:r>
              <a:rPr sz="2300" b="1" spc="10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ch</a:t>
            </a:r>
            <a:r>
              <a:rPr sz="2300" spc="-20" dirty="0">
                <a:solidFill>
                  <a:srgbClr val="383838"/>
                </a:solidFill>
                <a:latin typeface="Arial"/>
                <a:cs typeface="Arial"/>
              </a:rPr>
              <a:t>ơ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i</a:t>
            </a:r>
            <a:endParaRPr sz="2300">
              <a:latin typeface="Palatino Linotype"/>
              <a:cs typeface="Palatino Linotype"/>
            </a:endParaRPr>
          </a:p>
          <a:p>
            <a:pPr marL="12700" marR="119380">
              <a:lnSpc>
                <a:spcPct val="135700"/>
              </a:lnSpc>
              <a:spcBef>
                <a:spcPts val="125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ị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65" dirty="0">
                <a:solidFill>
                  <a:srgbClr val="383838"/>
                </a:solidFill>
                <a:latin typeface="Century Gothic"/>
                <a:cs typeface="Century Gothic"/>
              </a:rPr>
              <a:t>s</a:t>
            </a:r>
            <a:r>
              <a:rPr sz="1750" spc="65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tham 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gia,</a:t>
            </a:r>
            <a:r>
              <a:rPr sz="1750" b="1" spc="-8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đánh</a:t>
            </a:r>
            <a:r>
              <a:rPr sz="1750" b="1" spc="-9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giá, </a:t>
            </a:r>
            <a:r>
              <a:rPr sz="1750" b="1" spc="114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14" dirty="0">
                <a:solidFill>
                  <a:srgbClr val="383838"/>
                </a:solidFill>
                <a:latin typeface="Arial"/>
                <a:cs typeface="Arial"/>
              </a:rPr>
              <a:t>ỷ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spc="-6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05" dirty="0">
                <a:solidFill>
                  <a:srgbClr val="383838"/>
                </a:solidFill>
                <a:latin typeface="Arial"/>
                <a:cs typeface="Arial"/>
              </a:rPr>
              <a:t>ừ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i,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minh</a:t>
            </a:r>
            <a:r>
              <a:rPr sz="175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ch.</a:t>
            </a:r>
            <a:endParaRPr sz="175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663" y="5229020"/>
            <a:ext cx="528828" cy="4675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20355" y="5319039"/>
            <a:ext cx="1480820" cy="22244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0" algn="just">
              <a:lnSpc>
                <a:spcPts val="2900"/>
              </a:lnSpc>
              <a:spcBef>
                <a:spcPts val="8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Th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r>
              <a:rPr sz="2300" b="1" spc="16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kê </a:t>
            </a:r>
            <a:r>
              <a:rPr sz="2300" b="1" spc="70" dirty="0">
                <a:solidFill>
                  <a:srgbClr val="383838"/>
                </a:solidFill>
                <a:latin typeface="Palatino Linotype"/>
                <a:cs typeface="Palatino Linotype"/>
              </a:rPr>
              <a:t>ho</a:t>
            </a:r>
            <a:r>
              <a:rPr sz="2300" spc="7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2300" b="1" spc="70" dirty="0">
                <a:solidFill>
                  <a:srgbClr val="383838"/>
                </a:solidFill>
                <a:latin typeface="Palatino Linotype"/>
                <a:cs typeface="Palatino Linotype"/>
              </a:rPr>
              <a:t>t</a:t>
            </a:r>
            <a:r>
              <a:rPr sz="230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spc="-2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endParaRPr sz="23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35700"/>
              </a:lnSpc>
              <a:spcBef>
                <a:spcPts val="125"/>
              </a:spcBef>
            </a:pP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Báo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20" dirty="0">
                <a:solidFill>
                  <a:srgbClr val="383838"/>
                </a:solidFill>
                <a:latin typeface="Century Gothic"/>
                <a:cs typeface="Century Gothic"/>
              </a:rPr>
              <a:t>cáo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ổ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ng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,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70" dirty="0">
                <a:solidFill>
                  <a:srgbClr val="383838"/>
                </a:solidFill>
                <a:latin typeface="Century Gothic"/>
                <a:cs typeface="Century Gothic"/>
              </a:rPr>
              <a:t>cá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nhân,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theo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dõi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hi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u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qu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ng.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13" name="object 13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198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Phân</a:t>
            </a:r>
            <a:r>
              <a:rPr spc="90" dirty="0"/>
              <a:t> </a:t>
            </a:r>
            <a:r>
              <a:rPr spc="140" dirty="0"/>
              <a:t>tích</a:t>
            </a:r>
            <a:r>
              <a:rPr spc="90" dirty="0"/>
              <a:t> </a:t>
            </a:r>
            <a:r>
              <a:rPr spc="50" dirty="0"/>
              <a:t>h</a:t>
            </a:r>
            <a:r>
              <a:rPr b="0" spc="50" dirty="0">
                <a:latin typeface="Arial"/>
                <a:cs typeface="Arial"/>
              </a:rPr>
              <a:t>ệ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spc="100" dirty="0"/>
              <a:t>th</a:t>
            </a:r>
            <a:r>
              <a:rPr b="0" spc="100" dirty="0">
                <a:latin typeface="Arial"/>
                <a:cs typeface="Arial"/>
              </a:rPr>
              <a:t>ố</a:t>
            </a:r>
            <a:r>
              <a:rPr spc="100" dirty="0"/>
              <a:t>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380" y="1880616"/>
            <a:ext cx="1077468" cy="54635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33981" y="2091258"/>
            <a:ext cx="6522720" cy="4987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S</a:t>
            </a:r>
            <a:r>
              <a:rPr sz="2300" spc="-20" dirty="0">
                <a:solidFill>
                  <a:srgbClr val="383838"/>
                </a:solidFill>
                <a:latin typeface="Arial"/>
                <a:cs typeface="Arial"/>
              </a:rPr>
              <a:t>ơ</a:t>
            </a:r>
            <a:r>
              <a:rPr sz="2300" spc="-9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2300" spc="-9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Use</a:t>
            </a:r>
            <a:r>
              <a:rPr sz="2300" b="1" spc="-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Case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Mô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1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1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spc="-4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100" dirty="0">
                <a:solidFill>
                  <a:srgbClr val="383838"/>
                </a:solidFill>
                <a:latin typeface="Century Gothic"/>
                <a:cs typeface="Century Gothic"/>
              </a:rPr>
              <a:t>các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40" dirty="0">
                <a:solidFill>
                  <a:srgbClr val="383838"/>
                </a:solidFill>
                <a:latin typeface="Arial"/>
                <a:cs typeface="Arial"/>
              </a:rPr>
              <a:t>ứ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năng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spc="-4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05" dirty="0">
                <a:solidFill>
                  <a:srgbClr val="383838"/>
                </a:solidFill>
                <a:latin typeface="Arial"/>
                <a:cs typeface="Arial"/>
              </a:rPr>
              <a:t>ừ</a:t>
            </a:r>
            <a:r>
              <a:rPr sz="1750" spc="-4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90" dirty="0">
                <a:solidFill>
                  <a:srgbClr val="383838"/>
                </a:solidFill>
                <a:latin typeface="Century Gothic"/>
                <a:cs typeface="Century Gothic"/>
              </a:rPr>
              <a:t>góc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nhìn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dùng.</a:t>
            </a:r>
            <a:endParaRPr sz="17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17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Bi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u</a:t>
            </a:r>
            <a:r>
              <a:rPr sz="2300" b="1" spc="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2300" spc="-5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l</a:t>
            </a:r>
            <a:r>
              <a:rPr sz="2300" spc="-25" dirty="0">
                <a:solidFill>
                  <a:srgbClr val="383838"/>
                </a:solidFill>
                <a:latin typeface="Arial"/>
                <a:cs typeface="Arial"/>
              </a:rPr>
              <a:t>ớ</a:t>
            </a:r>
            <a:r>
              <a:rPr sz="2300" b="1" spc="-25" dirty="0">
                <a:solidFill>
                  <a:srgbClr val="383838"/>
                </a:solidFill>
                <a:latin typeface="Palatino Linotype"/>
                <a:cs typeface="Palatino Linotype"/>
              </a:rPr>
              <a:t>p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75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spc="105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spc="-5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trúc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ữ</a:t>
            </a:r>
            <a:r>
              <a:rPr sz="1750" spc="-5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li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và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quan</a:t>
            </a:r>
            <a:r>
              <a:rPr sz="1750" b="1" spc="-5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spc="-5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gi</a:t>
            </a:r>
            <a:r>
              <a:rPr sz="1750" spc="-60" dirty="0">
                <a:solidFill>
                  <a:srgbClr val="383838"/>
                </a:solidFill>
                <a:latin typeface="Arial"/>
                <a:cs typeface="Arial"/>
              </a:rPr>
              <a:t>ữ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a </a:t>
            </a:r>
            <a:r>
              <a:rPr sz="1750" b="1" spc="-100" dirty="0">
                <a:solidFill>
                  <a:srgbClr val="383838"/>
                </a:solidFill>
                <a:latin typeface="Century Gothic"/>
                <a:cs typeface="Century Gothic"/>
              </a:rPr>
              <a:t>các</a:t>
            </a:r>
            <a:r>
              <a:rPr sz="175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ng.</a:t>
            </a:r>
            <a:endParaRPr sz="17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17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Bi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u</a:t>
            </a:r>
            <a:r>
              <a:rPr sz="2300" b="1" spc="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2300" spc="-3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spc="60" dirty="0">
                <a:solidFill>
                  <a:srgbClr val="383838"/>
                </a:solidFill>
                <a:latin typeface="Palatino Linotype"/>
                <a:cs typeface="Palatino Linotype"/>
              </a:rPr>
              <a:t>tr</a:t>
            </a:r>
            <a:r>
              <a:rPr sz="2300" spc="6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2300" b="1" spc="60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r>
              <a:rPr sz="2300" b="1" spc="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60" dirty="0">
                <a:solidFill>
                  <a:srgbClr val="383838"/>
                </a:solidFill>
                <a:latin typeface="Palatino Linotype"/>
                <a:cs typeface="Palatino Linotype"/>
              </a:rPr>
              <a:t>thái</a:t>
            </a:r>
            <a:endParaRPr sz="2300">
              <a:latin typeface="Palatino Linotype"/>
              <a:cs typeface="Palatino Linotype"/>
            </a:endParaRPr>
          </a:p>
          <a:p>
            <a:pPr marL="12700" marR="471805">
              <a:lnSpc>
                <a:spcPct val="135700"/>
              </a:lnSpc>
              <a:spcBef>
                <a:spcPts val="610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Minh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spc="-40" dirty="0">
                <a:solidFill>
                  <a:srgbClr val="383838"/>
                </a:solidFill>
                <a:latin typeface="Arial"/>
                <a:cs typeface="Arial"/>
              </a:rPr>
              <a:t>ọ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a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0" dirty="0">
                <a:solidFill>
                  <a:srgbClr val="383838"/>
                </a:solidFill>
                <a:latin typeface="Century Gothic"/>
                <a:cs typeface="Century Gothic"/>
              </a:rPr>
              <a:t>các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thái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và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chuy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ổ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thái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75" dirty="0">
                <a:solidFill>
                  <a:srgbClr val="383838"/>
                </a:solidFill>
                <a:latin typeface="Arial"/>
                <a:cs typeface="Arial"/>
              </a:rPr>
              <a:t>ủ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a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đ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i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ng.</a:t>
            </a:r>
            <a:endParaRPr sz="17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7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Bi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u</a:t>
            </a:r>
            <a:r>
              <a:rPr sz="2300" b="1" spc="2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2300" spc="-4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spc="70" dirty="0">
                <a:solidFill>
                  <a:srgbClr val="383838"/>
                </a:solidFill>
                <a:latin typeface="Palatino Linotype"/>
                <a:cs typeface="Palatino Linotype"/>
              </a:rPr>
              <a:t>ho</a:t>
            </a:r>
            <a:r>
              <a:rPr sz="2300" spc="7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2300" b="1" spc="70" dirty="0">
                <a:solidFill>
                  <a:srgbClr val="383838"/>
                </a:solidFill>
                <a:latin typeface="Palatino Linotype"/>
                <a:cs typeface="Palatino Linotype"/>
              </a:rPr>
              <a:t>t</a:t>
            </a:r>
            <a:r>
              <a:rPr sz="2300" b="1" spc="3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spc="-2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750" b="1" spc="-55" dirty="0">
                <a:solidFill>
                  <a:srgbClr val="383838"/>
                </a:solidFill>
                <a:latin typeface="Century Gothic"/>
                <a:cs typeface="Century Gothic"/>
              </a:rPr>
              <a:t>Mô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1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1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lu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công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vi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và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0" dirty="0">
                <a:solidFill>
                  <a:srgbClr val="383838"/>
                </a:solidFill>
                <a:latin typeface="Century Gothic"/>
                <a:cs typeface="Century Gothic"/>
              </a:rPr>
              <a:t>các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750" spc="-35" dirty="0">
                <a:solidFill>
                  <a:srgbClr val="383838"/>
                </a:solidFill>
                <a:latin typeface="Arial"/>
                <a:cs typeface="Arial"/>
              </a:rPr>
              <a:t>ướ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c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ự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trong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ng.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7" name="object 7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61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5"/>
              </a:spcBef>
            </a:pPr>
            <a:r>
              <a:rPr dirty="0"/>
              <a:t>S</a:t>
            </a:r>
            <a:r>
              <a:rPr b="0" dirty="0">
                <a:latin typeface="Arial"/>
                <a:cs typeface="Arial"/>
              </a:rPr>
              <a:t>ơ</a:t>
            </a:r>
            <a:r>
              <a:rPr b="0" spc="-204" dirty="0">
                <a:latin typeface="Arial"/>
                <a:cs typeface="Arial"/>
              </a:rPr>
              <a:t> </a:t>
            </a:r>
            <a:r>
              <a:rPr dirty="0"/>
              <a:t>đ</a:t>
            </a:r>
            <a:r>
              <a:rPr b="0" dirty="0">
                <a:latin typeface="Arial"/>
                <a:cs typeface="Arial"/>
              </a:rPr>
              <a:t>ồ</a:t>
            </a:r>
            <a:r>
              <a:rPr b="0" spc="-204" dirty="0">
                <a:latin typeface="Arial"/>
                <a:cs typeface="Arial"/>
              </a:rPr>
              <a:t> </a:t>
            </a:r>
            <a:r>
              <a:rPr spc="110" dirty="0"/>
              <a:t>usecase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-18327"/>
            <a:ext cx="14630400" cy="8228965"/>
            <a:chOff x="0" y="761"/>
            <a:chExt cx="14630400" cy="8228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7432" y="1600200"/>
              <a:ext cx="10792967" cy="6629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7863840"/>
              <a:ext cx="14630400" cy="365760"/>
            </a:xfrm>
            <a:custGeom>
              <a:avLst/>
              <a:gdLst/>
              <a:ahLst/>
              <a:cxnLst/>
              <a:rect l="l" t="t" r="r" b="b"/>
              <a:pathLst>
                <a:path w="14630400" h="365759">
                  <a:moveTo>
                    <a:pt x="14630400" y="365759"/>
                  </a:moveTo>
                  <a:lnTo>
                    <a:pt x="0" y="365759"/>
                  </a:lnTo>
                  <a:lnTo>
                    <a:pt x="0" y="70103"/>
                  </a:lnTo>
                  <a:lnTo>
                    <a:pt x="5617" y="42714"/>
                  </a:lnTo>
                  <a:lnTo>
                    <a:pt x="20950" y="20283"/>
                  </a:lnTo>
                  <a:lnTo>
                    <a:pt x="43714" y="5236"/>
                  </a:lnTo>
                  <a:lnTo>
                    <a:pt x="71628" y="0"/>
                  </a:lnTo>
                  <a:lnTo>
                    <a:pt x="14630400" y="0"/>
                  </a:lnTo>
                  <a:lnTo>
                    <a:pt x="14630400" y="365759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554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5"/>
              </a:spcBef>
            </a:pPr>
            <a:r>
              <a:rPr dirty="0"/>
              <a:t>S</a:t>
            </a:r>
            <a:r>
              <a:rPr b="0" dirty="0">
                <a:latin typeface="Arial"/>
                <a:cs typeface="Arial"/>
              </a:rPr>
              <a:t>ơ</a:t>
            </a:r>
            <a:r>
              <a:rPr b="0" spc="-204" dirty="0">
                <a:latin typeface="Arial"/>
                <a:cs typeface="Arial"/>
              </a:rPr>
              <a:t> </a:t>
            </a:r>
            <a:r>
              <a:rPr dirty="0"/>
              <a:t>đ</a:t>
            </a:r>
            <a:r>
              <a:rPr b="0" dirty="0">
                <a:latin typeface="Arial"/>
                <a:cs typeface="Arial"/>
              </a:rPr>
              <a:t>ồ</a:t>
            </a:r>
            <a:r>
              <a:rPr b="0" spc="-204" dirty="0">
                <a:latin typeface="Arial"/>
                <a:cs typeface="Arial"/>
              </a:rPr>
              <a:t> </a:t>
            </a:r>
            <a:r>
              <a:rPr spc="-25" dirty="0"/>
              <a:t>L</a:t>
            </a:r>
            <a:r>
              <a:rPr b="0" spc="-25" dirty="0">
                <a:latin typeface="Arial"/>
                <a:cs typeface="Arial"/>
              </a:rPr>
              <a:t>ớ</a:t>
            </a:r>
            <a:r>
              <a:rPr spc="-25" dirty="0"/>
              <a:t>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1967" y="1940051"/>
              <a:ext cx="2729484" cy="57073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4747" y="1940051"/>
              <a:ext cx="3240024" cy="47518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6543" y="1940051"/>
              <a:ext cx="3282696" cy="45369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454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Bi</a:t>
            </a:r>
            <a:r>
              <a:rPr sz="3000" b="0" dirty="0">
                <a:latin typeface="Arial"/>
                <a:cs typeface="Arial"/>
              </a:rPr>
              <a:t>ể</a:t>
            </a:r>
            <a:r>
              <a:rPr sz="3000" dirty="0"/>
              <a:t>u</a:t>
            </a:r>
            <a:r>
              <a:rPr sz="3000" spc="75" dirty="0"/>
              <a:t> </a:t>
            </a:r>
            <a:r>
              <a:rPr sz="3000" dirty="0"/>
              <a:t>đ</a:t>
            </a:r>
            <a:r>
              <a:rPr sz="3000" b="0" dirty="0">
                <a:latin typeface="Arial"/>
                <a:cs typeface="Arial"/>
              </a:rPr>
              <a:t>ồ </a:t>
            </a:r>
            <a:r>
              <a:rPr sz="3000" dirty="0"/>
              <a:t>Tr</a:t>
            </a:r>
            <a:r>
              <a:rPr sz="3000" b="0" dirty="0">
                <a:latin typeface="Arial"/>
                <a:cs typeface="Arial"/>
              </a:rPr>
              <a:t>ạ</a:t>
            </a:r>
            <a:r>
              <a:rPr sz="3000" dirty="0"/>
              <a:t>ng</a:t>
            </a:r>
            <a:r>
              <a:rPr sz="3000" spc="80" dirty="0"/>
              <a:t> </a:t>
            </a:r>
            <a:r>
              <a:rPr sz="3000" spc="100" dirty="0"/>
              <a:t>thái</a:t>
            </a:r>
            <a:r>
              <a:rPr sz="3000" spc="75" dirty="0"/>
              <a:t> </a:t>
            </a:r>
            <a:r>
              <a:rPr sz="3000" spc="50" dirty="0"/>
              <a:t>đăng</a:t>
            </a:r>
            <a:r>
              <a:rPr sz="3000" spc="80" dirty="0"/>
              <a:t> </a:t>
            </a:r>
            <a:r>
              <a:rPr sz="3000" spc="-20" dirty="0"/>
              <a:t>nh</a:t>
            </a:r>
            <a:r>
              <a:rPr sz="3000" b="0" spc="-20" dirty="0">
                <a:latin typeface="Arial"/>
                <a:cs typeface="Arial"/>
              </a:rPr>
              <a:t>ậ</a:t>
            </a:r>
            <a:r>
              <a:rPr sz="3000" spc="-20" dirty="0"/>
              <a:t>p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7691" y="1773935"/>
              <a:ext cx="7448468" cy="568757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454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Bi</a:t>
            </a:r>
            <a:r>
              <a:rPr sz="3000" b="0" dirty="0">
                <a:latin typeface="Arial"/>
                <a:cs typeface="Arial"/>
              </a:rPr>
              <a:t>ể</a:t>
            </a:r>
            <a:r>
              <a:rPr sz="3000" dirty="0"/>
              <a:t>u</a:t>
            </a:r>
            <a:r>
              <a:rPr sz="3000" spc="75" dirty="0"/>
              <a:t> </a:t>
            </a:r>
            <a:r>
              <a:rPr sz="3000" dirty="0"/>
              <a:t>đ</a:t>
            </a:r>
            <a:r>
              <a:rPr sz="3000" b="0" dirty="0">
                <a:latin typeface="Arial"/>
                <a:cs typeface="Arial"/>
              </a:rPr>
              <a:t>ồ </a:t>
            </a:r>
            <a:r>
              <a:rPr sz="3000" dirty="0"/>
              <a:t>Tr</a:t>
            </a:r>
            <a:r>
              <a:rPr sz="3000" b="0" dirty="0">
                <a:latin typeface="Arial"/>
                <a:cs typeface="Arial"/>
              </a:rPr>
              <a:t>ạ</a:t>
            </a:r>
            <a:r>
              <a:rPr sz="3000" dirty="0"/>
              <a:t>ng</a:t>
            </a:r>
            <a:r>
              <a:rPr sz="3000" spc="80" dirty="0"/>
              <a:t> </a:t>
            </a:r>
            <a:r>
              <a:rPr sz="3000" spc="100" dirty="0"/>
              <a:t>thái</a:t>
            </a:r>
            <a:r>
              <a:rPr sz="3000" spc="75" dirty="0"/>
              <a:t> </a:t>
            </a:r>
            <a:r>
              <a:rPr sz="3000" spc="50" dirty="0"/>
              <a:t>đăng</a:t>
            </a:r>
            <a:r>
              <a:rPr sz="3000" spc="80" dirty="0"/>
              <a:t> </a:t>
            </a:r>
            <a:r>
              <a:rPr sz="3000" spc="-20" dirty="0"/>
              <a:t>nh</a:t>
            </a:r>
            <a:r>
              <a:rPr sz="3000" b="0" spc="-20" dirty="0">
                <a:latin typeface="Arial"/>
                <a:cs typeface="Arial"/>
              </a:rPr>
              <a:t>ậ</a:t>
            </a:r>
            <a:r>
              <a:rPr sz="3000" spc="-20" dirty="0"/>
              <a:t>p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7691" y="1773935"/>
              <a:ext cx="7448468" cy="568757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454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Bi</a:t>
            </a:r>
            <a:r>
              <a:rPr sz="3000" b="0" dirty="0">
                <a:latin typeface="Arial"/>
                <a:cs typeface="Arial"/>
              </a:rPr>
              <a:t>ể</a:t>
            </a:r>
            <a:r>
              <a:rPr sz="3000" dirty="0"/>
              <a:t>u</a:t>
            </a:r>
            <a:r>
              <a:rPr sz="3000" spc="70" dirty="0"/>
              <a:t> </a:t>
            </a:r>
            <a:r>
              <a:rPr sz="3000" dirty="0"/>
              <a:t>đ</a:t>
            </a:r>
            <a:r>
              <a:rPr sz="3000" b="0" dirty="0">
                <a:latin typeface="Arial"/>
                <a:cs typeface="Arial"/>
              </a:rPr>
              <a:t>ồ</a:t>
            </a:r>
            <a:r>
              <a:rPr sz="3000" b="0" spc="-10" dirty="0">
                <a:latin typeface="Arial"/>
                <a:cs typeface="Arial"/>
              </a:rPr>
              <a:t> </a:t>
            </a:r>
            <a:r>
              <a:rPr sz="3000" dirty="0"/>
              <a:t>Tr</a:t>
            </a:r>
            <a:r>
              <a:rPr sz="3000" b="0" dirty="0">
                <a:latin typeface="Arial"/>
                <a:cs typeface="Arial"/>
              </a:rPr>
              <a:t>ạ</a:t>
            </a:r>
            <a:r>
              <a:rPr sz="3000" dirty="0"/>
              <a:t>ng</a:t>
            </a:r>
            <a:r>
              <a:rPr sz="3000" spc="70" dirty="0"/>
              <a:t> </a:t>
            </a:r>
            <a:r>
              <a:rPr sz="3000" spc="100" dirty="0"/>
              <a:t>thái</a:t>
            </a:r>
            <a:r>
              <a:rPr sz="3000" spc="70" dirty="0"/>
              <a:t> </a:t>
            </a:r>
            <a:r>
              <a:rPr sz="3000" spc="90" dirty="0"/>
              <a:t>tìm</a:t>
            </a:r>
            <a:r>
              <a:rPr sz="3000" spc="70" dirty="0"/>
              <a:t> </a:t>
            </a:r>
            <a:r>
              <a:rPr sz="3000" spc="100" dirty="0"/>
              <a:t>tr</a:t>
            </a:r>
            <a:r>
              <a:rPr sz="3000" b="0" spc="100" dirty="0">
                <a:latin typeface="Arial"/>
                <a:cs typeface="Arial"/>
              </a:rPr>
              <a:t>ậ</a:t>
            </a:r>
            <a:r>
              <a:rPr sz="3000" spc="100" dirty="0"/>
              <a:t>n</a:t>
            </a:r>
            <a:r>
              <a:rPr sz="3000" spc="70" dirty="0"/>
              <a:t> </a:t>
            </a:r>
            <a:r>
              <a:rPr sz="3000" spc="55" dirty="0"/>
              <a:t>và</a:t>
            </a:r>
            <a:r>
              <a:rPr sz="3000" spc="75" dirty="0"/>
              <a:t> </a:t>
            </a:r>
            <a:r>
              <a:rPr sz="3000" spc="100" dirty="0"/>
              <a:t>t</a:t>
            </a:r>
            <a:r>
              <a:rPr sz="3000" b="0" spc="100" dirty="0">
                <a:latin typeface="Arial"/>
                <a:cs typeface="Arial"/>
              </a:rPr>
              <a:t>ạ</a:t>
            </a:r>
            <a:r>
              <a:rPr sz="3000" spc="100" dirty="0"/>
              <a:t>o</a:t>
            </a:r>
            <a:r>
              <a:rPr sz="3000" spc="70" dirty="0"/>
              <a:t> </a:t>
            </a:r>
            <a:r>
              <a:rPr sz="3000" spc="80" dirty="0"/>
              <a:t>tr</a:t>
            </a:r>
            <a:r>
              <a:rPr sz="3000" b="0" spc="80" dirty="0">
                <a:latin typeface="Arial"/>
                <a:cs typeface="Arial"/>
              </a:rPr>
              <a:t>ậ</a:t>
            </a:r>
            <a:r>
              <a:rPr sz="3000" spc="80" dirty="0"/>
              <a:t>n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1726518"/>
            <a:ext cx="5434841" cy="6011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8189" y="1641910"/>
            <a:ext cx="2608116" cy="60728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9770" y="7775575"/>
            <a:ext cx="890269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tìm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7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3150" y="7775575"/>
            <a:ext cx="8820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o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7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8" name="object 8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944"/>
              </a:spcBef>
            </a:pPr>
            <a:r>
              <a:rPr sz="3000" dirty="0"/>
              <a:t>Bi</a:t>
            </a:r>
            <a:r>
              <a:rPr sz="3000" b="0" dirty="0">
                <a:latin typeface="Arial"/>
                <a:cs typeface="Arial"/>
              </a:rPr>
              <a:t>ể</a:t>
            </a:r>
            <a:r>
              <a:rPr sz="3000" dirty="0"/>
              <a:t>u</a:t>
            </a:r>
            <a:r>
              <a:rPr sz="3000" spc="85" dirty="0"/>
              <a:t> </a:t>
            </a:r>
            <a:r>
              <a:rPr sz="3000" dirty="0"/>
              <a:t>đ</a:t>
            </a:r>
            <a:r>
              <a:rPr sz="3000" b="0" dirty="0">
                <a:latin typeface="Arial"/>
                <a:cs typeface="Arial"/>
              </a:rPr>
              <a:t>ồ</a:t>
            </a:r>
            <a:r>
              <a:rPr sz="3000" b="0" spc="15" dirty="0">
                <a:latin typeface="Arial"/>
                <a:cs typeface="Arial"/>
              </a:rPr>
              <a:t> </a:t>
            </a:r>
            <a:r>
              <a:rPr sz="3000" dirty="0"/>
              <a:t>Tr</a:t>
            </a:r>
            <a:r>
              <a:rPr sz="3000" b="0" dirty="0">
                <a:latin typeface="Arial"/>
                <a:cs typeface="Arial"/>
              </a:rPr>
              <a:t>ạ</a:t>
            </a:r>
            <a:r>
              <a:rPr sz="3000" dirty="0"/>
              <a:t>ng</a:t>
            </a:r>
            <a:r>
              <a:rPr sz="3000" spc="90" dirty="0"/>
              <a:t> </a:t>
            </a:r>
            <a:r>
              <a:rPr sz="3000" spc="80" dirty="0"/>
              <a:t>thái</a:t>
            </a:r>
            <a:endParaRPr sz="3000">
              <a:latin typeface="Arial"/>
              <a:cs typeface="Arial"/>
            </a:endParaRPr>
          </a:p>
          <a:p>
            <a:pPr marL="2364105">
              <a:lnSpc>
                <a:spcPct val="100000"/>
              </a:lnSpc>
              <a:spcBef>
                <a:spcPts val="700"/>
              </a:spcBef>
            </a:pPr>
            <a:r>
              <a:rPr sz="2500" spc="65" dirty="0"/>
              <a:t>tìm</a:t>
            </a:r>
            <a:r>
              <a:rPr sz="2500" spc="55" dirty="0"/>
              <a:t> </a:t>
            </a:r>
            <a:r>
              <a:rPr sz="2500" spc="60" dirty="0"/>
              <a:t>tr</a:t>
            </a:r>
            <a:r>
              <a:rPr sz="2500" b="0" spc="60" dirty="0">
                <a:latin typeface="Arial"/>
                <a:cs typeface="Arial"/>
              </a:rPr>
              <a:t>ậ</a:t>
            </a:r>
            <a:r>
              <a:rPr sz="2500" spc="60" dirty="0"/>
              <a:t>n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50133" y="1299413"/>
            <a:ext cx="1248410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75" dirty="0">
                <a:solidFill>
                  <a:srgbClr val="020202"/>
                </a:solidFill>
                <a:latin typeface="Palatino Linotype"/>
                <a:cs typeface="Palatino Linotype"/>
              </a:rPr>
              <a:t>t</a:t>
            </a:r>
            <a:r>
              <a:rPr sz="2500" spc="75" dirty="0">
                <a:solidFill>
                  <a:srgbClr val="020202"/>
                </a:solidFill>
                <a:latin typeface="Arial"/>
                <a:cs typeface="Arial"/>
              </a:rPr>
              <a:t>ạ</a:t>
            </a:r>
            <a:r>
              <a:rPr sz="2500" b="1" spc="75" dirty="0">
                <a:solidFill>
                  <a:srgbClr val="020202"/>
                </a:solidFill>
                <a:latin typeface="Palatino Linotype"/>
                <a:cs typeface="Palatino Linotype"/>
              </a:rPr>
              <a:t>o</a:t>
            </a:r>
            <a:r>
              <a:rPr sz="2500" b="1" spc="5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2500" b="1" spc="60" dirty="0">
                <a:solidFill>
                  <a:srgbClr val="020202"/>
                </a:solidFill>
                <a:latin typeface="Palatino Linotype"/>
                <a:cs typeface="Palatino Linotype"/>
              </a:rPr>
              <a:t>tr</a:t>
            </a:r>
            <a:r>
              <a:rPr sz="2500" spc="60" dirty="0">
                <a:solidFill>
                  <a:srgbClr val="020202"/>
                </a:solidFill>
                <a:latin typeface="Arial"/>
                <a:cs typeface="Arial"/>
              </a:rPr>
              <a:t>ậ</a:t>
            </a:r>
            <a:r>
              <a:rPr sz="2500" b="1" spc="60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endParaRPr sz="25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2115576"/>
            <a:ext cx="5434841" cy="56287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8189" y="2034821"/>
            <a:ext cx="2608116" cy="56856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39770" y="7775575"/>
            <a:ext cx="890269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tìm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7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63150" y="7775575"/>
            <a:ext cx="8820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spc="50" dirty="0">
                <a:solidFill>
                  <a:srgbClr val="383838"/>
                </a:solidFill>
                <a:latin typeface="Century Gothic"/>
                <a:cs typeface="Century Gothic"/>
              </a:rPr>
              <a:t>o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7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7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9" name="object 9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454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Bi</a:t>
            </a:r>
            <a:r>
              <a:rPr sz="3000" b="0" dirty="0">
                <a:latin typeface="Arial"/>
                <a:cs typeface="Arial"/>
              </a:rPr>
              <a:t>ể</a:t>
            </a:r>
            <a:r>
              <a:rPr sz="3000" dirty="0"/>
              <a:t>u</a:t>
            </a:r>
            <a:r>
              <a:rPr sz="3000" spc="80" dirty="0"/>
              <a:t> </a:t>
            </a:r>
            <a:r>
              <a:rPr sz="3000" dirty="0"/>
              <a:t>đ</a:t>
            </a:r>
            <a:r>
              <a:rPr sz="3000" b="0" dirty="0">
                <a:latin typeface="Arial"/>
                <a:cs typeface="Arial"/>
              </a:rPr>
              <a:t>ồ </a:t>
            </a:r>
            <a:r>
              <a:rPr sz="3000" dirty="0"/>
              <a:t>Tr</a:t>
            </a:r>
            <a:r>
              <a:rPr sz="3000" b="0" dirty="0">
                <a:latin typeface="Arial"/>
                <a:cs typeface="Arial"/>
              </a:rPr>
              <a:t>ạ</a:t>
            </a:r>
            <a:r>
              <a:rPr sz="3000" dirty="0"/>
              <a:t>ng</a:t>
            </a:r>
            <a:r>
              <a:rPr sz="3000" spc="80" dirty="0"/>
              <a:t> </a:t>
            </a:r>
            <a:r>
              <a:rPr sz="3000" spc="100" dirty="0"/>
              <a:t>thái</a:t>
            </a:r>
            <a:r>
              <a:rPr sz="3000" spc="80" dirty="0"/>
              <a:t> </a:t>
            </a:r>
            <a:r>
              <a:rPr sz="3000" spc="50" dirty="0"/>
              <a:t>phê</a:t>
            </a:r>
            <a:r>
              <a:rPr sz="3000" spc="80" dirty="0"/>
              <a:t> </a:t>
            </a:r>
            <a:r>
              <a:rPr sz="3000" dirty="0"/>
              <a:t>duy</a:t>
            </a:r>
            <a:r>
              <a:rPr sz="3000" b="0" dirty="0">
                <a:latin typeface="Arial"/>
                <a:cs typeface="Arial"/>
              </a:rPr>
              <a:t>ệ</a:t>
            </a:r>
            <a:r>
              <a:rPr sz="3000" dirty="0"/>
              <a:t>t</a:t>
            </a:r>
            <a:r>
              <a:rPr sz="3000" spc="80" dirty="0"/>
              <a:t> </a:t>
            </a:r>
            <a:r>
              <a:rPr sz="3000" spc="85" dirty="0"/>
              <a:t>c</a:t>
            </a:r>
            <a:r>
              <a:rPr sz="3000" b="0" spc="85" dirty="0">
                <a:latin typeface="Arial"/>
                <a:cs typeface="Arial"/>
              </a:rPr>
              <a:t>ủ</a:t>
            </a:r>
            <a:r>
              <a:rPr sz="3000" spc="85" dirty="0"/>
              <a:t>a</a:t>
            </a:r>
            <a:r>
              <a:rPr sz="3000" spc="80" dirty="0"/>
              <a:t> </a:t>
            </a:r>
            <a:r>
              <a:rPr sz="3000" spc="55" dirty="0"/>
              <a:t>ch</a:t>
            </a:r>
            <a:r>
              <a:rPr sz="3000" b="0" spc="55" dirty="0">
                <a:latin typeface="Arial"/>
                <a:cs typeface="Arial"/>
              </a:rPr>
              <a:t>ủ</a:t>
            </a:r>
            <a:r>
              <a:rPr sz="3000" b="0" dirty="0">
                <a:latin typeface="Arial"/>
                <a:cs typeface="Arial"/>
              </a:rPr>
              <a:t> </a:t>
            </a:r>
            <a:r>
              <a:rPr sz="3000" spc="60" dirty="0"/>
              <a:t>sân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4690" y="1554248"/>
              <a:ext cx="2188105" cy="61003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90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</a:t>
            </a:r>
            <a:r>
              <a:rPr b="0" dirty="0">
                <a:latin typeface="Arial"/>
                <a:cs typeface="Arial"/>
              </a:rPr>
              <a:t>ể</a:t>
            </a:r>
            <a:r>
              <a:rPr dirty="0"/>
              <a:t>u</a:t>
            </a:r>
            <a:r>
              <a:rPr spc="85" dirty="0"/>
              <a:t> </a:t>
            </a:r>
            <a:r>
              <a:rPr dirty="0"/>
              <a:t>đ</a:t>
            </a:r>
            <a:r>
              <a:rPr b="0" dirty="0">
                <a:latin typeface="Arial"/>
                <a:cs typeface="Arial"/>
              </a:rPr>
              <a:t>ồ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dirty="0"/>
              <a:t>Ho</a:t>
            </a:r>
            <a:r>
              <a:rPr b="0" dirty="0">
                <a:latin typeface="Arial"/>
                <a:cs typeface="Arial"/>
              </a:rPr>
              <a:t>ạ</a:t>
            </a:r>
            <a:r>
              <a:rPr dirty="0"/>
              <a:t>t</a:t>
            </a:r>
            <a:r>
              <a:rPr spc="100" dirty="0"/>
              <a:t> </a:t>
            </a:r>
            <a:r>
              <a:rPr spc="-20" dirty="0"/>
              <a:t>đ</a:t>
            </a:r>
            <a:r>
              <a:rPr b="0" spc="-20" dirty="0">
                <a:latin typeface="Arial"/>
                <a:cs typeface="Arial"/>
              </a:rPr>
              <a:t>ộ</a:t>
            </a:r>
            <a:r>
              <a:rPr spc="-20" dirty="0"/>
              <a:t>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0523" y="1089660"/>
            <a:ext cx="7299959" cy="67894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884" y="1548765"/>
            <a:ext cx="36099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Bi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1750" spc="-1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ho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75" dirty="0">
                <a:solidFill>
                  <a:srgbClr val="383838"/>
                </a:solidFill>
                <a:latin typeface="Arial"/>
                <a:cs typeface="Arial"/>
              </a:rPr>
              <a:t>ủ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a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ch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ơ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6" name="object 6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9396" y="1126176"/>
            <a:ext cx="6791565" cy="65237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90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</a:t>
            </a:r>
            <a:r>
              <a:rPr b="0" dirty="0">
                <a:latin typeface="Arial"/>
                <a:cs typeface="Arial"/>
              </a:rPr>
              <a:t>ể</a:t>
            </a:r>
            <a:r>
              <a:rPr dirty="0"/>
              <a:t>u</a:t>
            </a:r>
            <a:r>
              <a:rPr spc="85" dirty="0"/>
              <a:t> </a:t>
            </a:r>
            <a:r>
              <a:rPr dirty="0"/>
              <a:t>đ</a:t>
            </a:r>
            <a:r>
              <a:rPr b="0" dirty="0">
                <a:latin typeface="Arial"/>
                <a:cs typeface="Arial"/>
              </a:rPr>
              <a:t>ồ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dirty="0"/>
              <a:t>Ho</a:t>
            </a:r>
            <a:r>
              <a:rPr b="0" dirty="0">
                <a:latin typeface="Arial"/>
                <a:cs typeface="Arial"/>
              </a:rPr>
              <a:t>ạ</a:t>
            </a:r>
            <a:r>
              <a:rPr dirty="0"/>
              <a:t>t</a:t>
            </a:r>
            <a:r>
              <a:rPr spc="100" dirty="0"/>
              <a:t> </a:t>
            </a:r>
            <a:r>
              <a:rPr spc="-20" dirty="0"/>
              <a:t>đ</a:t>
            </a:r>
            <a:r>
              <a:rPr b="0" spc="-20" dirty="0">
                <a:latin typeface="Arial"/>
                <a:cs typeface="Arial"/>
              </a:rPr>
              <a:t>ộ</a:t>
            </a:r>
            <a:r>
              <a:rPr spc="-20" dirty="0"/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3884" y="1574800"/>
            <a:ext cx="328676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Bi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ồ</a:t>
            </a:r>
            <a:r>
              <a:rPr sz="1750" spc="-1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ho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750" spc="-75" dirty="0">
                <a:solidFill>
                  <a:srgbClr val="383838"/>
                </a:solidFill>
                <a:latin typeface="Arial"/>
                <a:cs typeface="Arial"/>
              </a:rPr>
              <a:t>ủ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a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ủ</a:t>
            </a:r>
            <a:r>
              <a:rPr sz="1750" spc="-1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sân</a:t>
            </a:r>
            <a:endParaRPr sz="175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6" name="object 6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088" y="1234516"/>
            <a:ext cx="33877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Chu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ẩ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r>
              <a:rPr sz="3000" b="1" spc="1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114" dirty="0">
                <a:solidFill>
                  <a:srgbClr val="020202"/>
                </a:solidFill>
                <a:latin typeface="Palatino Linotype"/>
                <a:cs typeface="Palatino Linotype"/>
              </a:rPr>
              <a:t>hóa</a:t>
            </a:r>
            <a:r>
              <a:rPr sz="3000" b="1" spc="1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d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ữ</a:t>
            </a:r>
            <a:r>
              <a:rPr sz="3000" spc="-65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spc="-20" dirty="0">
                <a:solidFill>
                  <a:srgbClr val="020202"/>
                </a:solidFill>
                <a:latin typeface="Palatino Linotype"/>
                <a:cs typeface="Palatino Linotype"/>
              </a:rPr>
              <a:t>li</a:t>
            </a:r>
            <a:r>
              <a:rPr sz="3000" spc="-20" dirty="0">
                <a:solidFill>
                  <a:srgbClr val="020202"/>
                </a:solidFill>
                <a:latin typeface="Arial"/>
                <a:cs typeface="Arial"/>
              </a:rPr>
              <a:t>ệ</a:t>
            </a:r>
            <a:r>
              <a:rPr sz="3000" b="1" spc="-20" dirty="0">
                <a:solidFill>
                  <a:srgbClr val="020202"/>
                </a:solidFill>
                <a:latin typeface="Palatino Linotype"/>
                <a:cs typeface="Palatino Linotype"/>
              </a:rPr>
              <a:t>u</a:t>
            </a:r>
            <a:endParaRPr sz="30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Thi</a:t>
            </a:r>
            <a:r>
              <a:rPr b="0" spc="70" dirty="0">
                <a:latin typeface="Arial"/>
                <a:cs typeface="Arial"/>
              </a:rPr>
              <a:t>ế</a:t>
            </a:r>
            <a:r>
              <a:rPr spc="70" dirty="0"/>
              <a:t>t</a:t>
            </a:r>
            <a:r>
              <a:rPr spc="50" dirty="0"/>
              <a:t> </a:t>
            </a:r>
            <a:r>
              <a:rPr dirty="0"/>
              <a:t>k</a:t>
            </a:r>
            <a:r>
              <a:rPr b="0" dirty="0">
                <a:latin typeface="Arial"/>
                <a:cs typeface="Arial"/>
              </a:rPr>
              <a:t>ế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50" dirty="0"/>
              <a:t>h</a:t>
            </a:r>
            <a:r>
              <a:rPr b="0" spc="50" dirty="0">
                <a:latin typeface="Arial"/>
                <a:cs typeface="Arial"/>
              </a:rPr>
              <a:t>ệ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100" dirty="0"/>
              <a:t>th</a:t>
            </a:r>
            <a:r>
              <a:rPr b="0" spc="100" dirty="0">
                <a:latin typeface="Arial"/>
                <a:cs typeface="Arial"/>
              </a:rPr>
              <a:t>ố</a:t>
            </a:r>
            <a:r>
              <a:rPr spc="100" dirty="0"/>
              <a:t>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004" y="2458211"/>
              <a:ext cx="2906268" cy="11049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004" y="3765803"/>
              <a:ext cx="2944368" cy="2839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6733031"/>
              <a:ext cx="2962655" cy="876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8159" y="2450591"/>
              <a:ext cx="2915412" cy="13152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8159" y="3974591"/>
              <a:ext cx="2933699" cy="2628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8159" y="6726935"/>
              <a:ext cx="2982467" cy="8854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71459" y="2450591"/>
              <a:ext cx="2889504" cy="8854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71459" y="3680459"/>
              <a:ext cx="2877311" cy="8671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71459" y="4803647"/>
              <a:ext cx="2915411" cy="6568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53171" y="5760720"/>
              <a:ext cx="2868168" cy="1752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72443" y="2459735"/>
              <a:ext cx="2906267" cy="15148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172443" y="4315967"/>
              <a:ext cx="2924555" cy="13335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7813547"/>
              <a:ext cx="14630400" cy="416559"/>
            </a:xfrm>
            <a:custGeom>
              <a:avLst/>
              <a:gdLst/>
              <a:ahLst/>
              <a:cxnLst/>
              <a:rect l="l" t="t" r="r" b="b"/>
              <a:pathLst>
                <a:path w="14630400" h="416559">
                  <a:moveTo>
                    <a:pt x="14630400" y="416051"/>
                  </a:moveTo>
                  <a:lnTo>
                    <a:pt x="0" y="416051"/>
                  </a:lnTo>
                  <a:lnTo>
                    <a:pt x="0" y="89916"/>
                  </a:lnTo>
                  <a:lnTo>
                    <a:pt x="7102" y="54738"/>
                  </a:lnTo>
                  <a:lnTo>
                    <a:pt x="26431" y="26050"/>
                  </a:lnTo>
                  <a:lnTo>
                    <a:pt x="55024" y="6816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16051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088" y="1234516"/>
            <a:ext cx="4173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S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ơ</a:t>
            </a:r>
            <a:r>
              <a:rPr sz="3000" spc="-45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đ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ồ</a:t>
            </a:r>
            <a:r>
              <a:rPr sz="3000" spc="-35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spc="85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3000" spc="85" dirty="0">
                <a:solidFill>
                  <a:srgbClr val="020202"/>
                </a:solidFill>
                <a:latin typeface="Arial"/>
                <a:cs typeface="Arial"/>
              </a:rPr>
              <a:t>ự</a:t>
            </a:r>
            <a:r>
              <a:rPr sz="3000" b="1" spc="85" dirty="0">
                <a:solidFill>
                  <a:srgbClr val="020202"/>
                </a:solidFill>
                <a:latin typeface="Palatino Linotype"/>
                <a:cs typeface="Palatino Linotype"/>
              </a:rPr>
              <a:t>c</a:t>
            </a:r>
            <a:r>
              <a:rPr sz="3000" b="1" spc="4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85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3000" spc="85" dirty="0">
                <a:solidFill>
                  <a:srgbClr val="020202"/>
                </a:solidFill>
                <a:latin typeface="Arial"/>
                <a:cs typeface="Arial"/>
              </a:rPr>
              <a:t>ể</a:t>
            </a:r>
            <a:r>
              <a:rPr sz="3000" spc="-35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liên</a:t>
            </a:r>
            <a:r>
              <a:rPr sz="3000" b="1" spc="4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-25" dirty="0">
                <a:solidFill>
                  <a:srgbClr val="020202"/>
                </a:solidFill>
                <a:latin typeface="Palatino Linotype"/>
                <a:cs typeface="Palatino Linotype"/>
              </a:rPr>
              <a:t>k</a:t>
            </a:r>
            <a:r>
              <a:rPr sz="3000" spc="-25" dirty="0">
                <a:solidFill>
                  <a:srgbClr val="020202"/>
                </a:solidFill>
                <a:latin typeface="Arial"/>
                <a:cs typeface="Arial"/>
              </a:rPr>
              <a:t>ế</a:t>
            </a:r>
            <a:r>
              <a:rPr sz="3000" b="1" spc="-25" dirty="0">
                <a:solidFill>
                  <a:srgbClr val="020202"/>
                </a:solidFill>
                <a:latin typeface="Palatino Linotype"/>
                <a:cs typeface="Palatino Linotype"/>
              </a:rPr>
              <a:t>t</a:t>
            </a:r>
            <a:endParaRPr sz="30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Thi</a:t>
            </a:r>
            <a:r>
              <a:rPr b="0" spc="70" dirty="0">
                <a:latin typeface="Arial"/>
                <a:cs typeface="Arial"/>
              </a:rPr>
              <a:t>ế</a:t>
            </a:r>
            <a:r>
              <a:rPr spc="70" dirty="0"/>
              <a:t>t</a:t>
            </a:r>
            <a:r>
              <a:rPr spc="50" dirty="0"/>
              <a:t> </a:t>
            </a:r>
            <a:r>
              <a:rPr dirty="0"/>
              <a:t>k</a:t>
            </a:r>
            <a:r>
              <a:rPr b="0" dirty="0">
                <a:latin typeface="Arial"/>
                <a:cs typeface="Arial"/>
              </a:rPr>
              <a:t>ế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50" dirty="0"/>
              <a:t>h</a:t>
            </a:r>
            <a:r>
              <a:rPr b="0" spc="50" dirty="0">
                <a:latin typeface="Arial"/>
                <a:cs typeface="Arial"/>
              </a:rPr>
              <a:t>ệ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100" dirty="0"/>
              <a:t>th</a:t>
            </a:r>
            <a:r>
              <a:rPr b="0" spc="100" dirty="0">
                <a:latin typeface="Arial"/>
                <a:cs typeface="Arial"/>
              </a:rPr>
              <a:t>ố</a:t>
            </a:r>
            <a:r>
              <a:rPr spc="100" dirty="0"/>
              <a:t>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1" y="153670"/>
            <a:ext cx="14629130" cy="8228330"/>
            <a:chOff x="761" y="761"/>
            <a:chExt cx="14629130" cy="82283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8235" y="137159"/>
              <a:ext cx="8787383" cy="80787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1519" y="0"/>
            <a:ext cx="13898880" cy="8229600"/>
            <a:chOff x="731519" y="0"/>
            <a:chExt cx="1389888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0"/>
              <a:ext cx="5486400" cy="8229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9" y="2134814"/>
              <a:ext cx="522731" cy="4166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19" y="3561411"/>
              <a:ext cx="522731" cy="462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823" y="4980432"/>
              <a:ext cx="462125" cy="5227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03884" y="1359458"/>
            <a:ext cx="7790815" cy="576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Ki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ế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r>
              <a:rPr sz="3000" b="1" spc="2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105" dirty="0">
                <a:solidFill>
                  <a:srgbClr val="020202"/>
                </a:solidFill>
                <a:latin typeface="Palatino Linotype"/>
                <a:cs typeface="Palatino Linotype"/>
              </a:rPr>
              <a:t>trúc</a:t>
            </a:r>
            <a:r>
              <a:rPr sz="3000" b="1" spc="3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T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ổ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ng</a:t>
            </a:r>
            <a:r>
              <a:rPr sz="3000" b="1" spc="2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85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3000" spc="85" dirty="0">
                <a:solidFill>
                  <a:srgbClr val="020202"/>
                </a:solidFill>
                <a:latin typeface="Arial"/>
                <a:cs typeface="Arial"/>
              </a:rPr>
              <a:t>ể</a:t>
            </a:r>
            <a:r>
              <a:rPr sz="3000" spc="-55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spc="-30" dirty="0">
                <a:solidFill>
                  <a:srgbClr val="020202"/>
                </a:solidFill>
                <a:latin typeface="Palatino Linotype"/>
                <a:cs typeface="Palatino Linotype"/>
              </a:rPr>
              <a:t>H</a:t>
            </a:r>
            <a:r>
              <a:rPr sz="3000" spc="-30" dirty="0">
                <a:solidFill>
                  <a:srgbClr val="020202"/>
                </a:solidFill>
                <a:latin typeface="Arial"/>
                <a:cs typeface="Arial"/>
              </a:rPr>
              <a:t>ệ</a:t>
            </a:r>
            <a:r>
              <a:rPr sz="3000" spc="-50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spc="50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3000" spc="50" dirty="0">
                <a:solidFill>
                  <a:srgbClr val="020202"/>
                </a:solidFill>
                <a:latin typeface="Arial"/>
                <a:cs typeface="Arial"/>
              </a:rPr>
              <a:t>ố</a:t>
            </a:r>
            <a:r>
              <a:rPr sz="3000" b="1" spc="50" dirty="0">
                <a:solidFill>
                  <a:srgbClr val="020202"/>
                </a:solidFill>
                <a:latin typeface="Palatino Linotype"/>
                <a:cs typeface="Palatino Linotype"/>
              </a:rPr>
              <a:t>ng</a:t>
            </a:r>
            <a:endParaRPr sz="3000">
              <a:latin typeface="Palatino Linotype"/>
              <a:cs typeface="Palatino Linotype"/>
            </a:endParaRPr>
          </a:p>
          <a:p>
            <a:pPr marL="911225">
              <a:lnSpc>
                <a:spcPct val="100000"/>
              </a:lnSpc>
              <a:spcBef>
                <a:spcPts val="3025"/>
              </a:spcBef>
            </a:pPr>
            <a:r>
              <a:rPr sz="2150" b="1" dirty="0">
                <a:solidFill>
                  <a:srgbClr val="383838"/>
                </a:solidFill>
                <a:latin typeface="Palatino Linotype"/>
                <a:cs typeface="Palatino Linotype"/>
              </a:rPr>
              <a:t>Giao</a:t>
            </a:r>
            <a:r>
              <a:rPr sz="2150" b="1" spc="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383838"/>
                </a:solidFill>
                <a:latin typeface="Palatino Linotype"/>
                <a:cs typeface="Palatino Linotype"/>
              </a:rPr>
              <a:t>di</a:t>
            </a:r>
            <a:r>
              <a:rPr sz="21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2150" b="1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r>
              <a:rPr sz="2150" b="1" spc="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15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(Frontend)</a:t>
            </a:r>
            <a:endParaRPr sz="2150">
              <a:latin typeface="Palatino Linotype"/>
              <a:cs typeface="Palatino Linotype"/>
            </a:endParaRPr>
          </a:p>
          <a:p>
            <a:pPr marL="911225">
              <a:lnSpc>
                <a:spcPct val="100000"/>
              </a:lnSpc>
              <a:spcBef>
                <a:spcPts val="1525"/>
              </a:spcBef>
            </a:pPr>
            <a:r>
              <a:rPr sz="1600" b="1" spc="85" dirty="0">
                <a:solidFill>
                  <a:srgbClr val="383838"/>
                </a:solidFill>
                <a:latin typeface="Century Gothic"/>
                <a:cs typeface="Century Gothic"/>
              </a:rPr>
              <a:t>HTML,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CSS,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 JavaScript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600">
              <a:latin typeface="Century Gothic"/>
              <a:cs typeface="Century Gothic"/>
            </a:endParaRPr>
          </a:p>
          <a:p>
            <a:pPr marL="911225">
              <a:lnSpc>
                <a:spcPct val="100000"/>
              </a:lnSpc>
            </a:pPr>
            <a:r>
              <a:rPr sz="2150" b="1" spc="55" dirty="0">
                <a:solidFill>
                  <a:srgbClr val="383838"/>
                </a:solidFill>
                <a:latin typeface="Palatino Linotype"/>
                <a:cs typeface="Palatino Linotype"/>
              </a:rPr>
              <a:t>X</a:t>
            </a:r>
            <a:r>
              <a:rPr sz="2150" spc="55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21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383838"/>
                </a:solidFill>
                <a:latin typeface="Palatino Linotype"/>
                <a:cs typeface="Palatino Linotype"/>
              </a:rPr>
              <a:t>lý</a:t>
            </a:r>
            <a:r>
              <a:rPr sz="2150" b="1" spc="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150" b="1" spc="-10" dirty="0">
                <a:solidFill>
                  <a:srgbClr val="383838"/>
                </a:solidFill>
                <a:latin typeface="Palatino Linotype"/>
                <a:cs typeface="Palatino Linotype"/>
              </a:rPr>
              <a:t>(Backend)</a:t>
            </a:r>
            <a:endParaRPr sz="2150">
              <a:latin typeface="Palatino Linotype"/>
              <a:cs typeface="Palatino Linotype"/>
            </a:endParaRPr>
          </a:p>
          <a:p>
            <a:pPr marL="911225">
              <a:lnSpc>
                <a:spcPct val="100000"/>
              </a:lnSpc>
              <a:spcBef>
                <a:spcPts val="1530"/>
              </a:spcBef>
            </a:pP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Node.js,</a:t>
            </a:r>
            <a:r>
              <a:rPr sz="16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45" dirty="0">
                <a:solidFill>
                  <a:srgbClr val="383838"/>
                </a:solidFill>
                <a:latin typeface="Century Gothic"/>
                <a:cs typeface="Century Gothic"/>
              </a:rPr>
              <a:t>Express.js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600">
              <a:latin typeface="Century Gothic"/>
              <a:cs typeface="Century Gothic"/>
            </a:endParaRPr>
          </a:p>
          <a:p>
            <a:pPr marL="911225">
              <a:lnSpc>
                <a:spcPct val="100000"/>
              </a:lnSpc>
            </a:pPr>
            <a:r>
              <a:rPr sz="2150" b="1" spc="-135" dirty="0">
                <a:solidFill>
                  <a:srgbClr val="383838"/>
                </a:solidFill>
                <a:latin typeface="Palatino Linotype"/>
                <a:cs typeface="Palatino Linotype"/>
              </a:rPr>
              <a:t>CSDL</a:t>
            </a:r>
            <a:r>
              <a:rPr sz="2150" b="1" spc="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150" b="1" spc="35" dirty="0">
                <a:solidFill>
                  <a:srgbClr val="383838"/>
                </a:solidFill>
                <a:latin typeface="Palatino Linotype"/>
                <a:cs typeface="Palatino Linotype"/>
              </a:rPr>
              <a:t>(Database)</a:t>
            </a:r>
            <a:endParaRPr sz="2150">
              <a:latin typeface="Palatino Linotype"/>
              <a:cs typeface="Palatino Linotype"/>
            </a:endParaRPr>
          </a:p>
          <a:p>
            <a:pPr marL="911225">
              <a:lnSpc>
                <a:spcPct val="100000"/>
              </a:lnSpc>
              <a:spcBef>
                <a:spcPts val="1525"/>
              </a:spcBef>
            </a:pPr>
            <a:r>
              <a:rPr sz="1600" b="1" spc="65" dirty="0">
                <a:solidFill>
                  <a:srgbClr val="383838"/>
                </a:solidFill>
                <a:latin typeface="Century Gothic"/>
                <a:cs typeface="Century Gothic"/>
              </a:rPr>
              <a:t>SQL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Server</a:t>
            </a:r>
            <a:r>
              <a:rPr sz="1600" b="1" spc="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45" dirty="0">
                <a:solidFill>
                  <a:srgbClr val="383838"/>
                </a:solidFill>
                <a:latin typeface="Century Gothic"/>
                <a:cs typeface="Century Gothic"/>
              </a:rPr>
              <a:t>2022</a:t>
            </a:r>
            <a:endParaRPr sz="1600">
              <a:latin typeface="Century Gothic"/>
              <a:cs typeface="Century Gothic"/>
            </a:endParaRPr>
          </a:p>
          <a:p>
            <a:pPr marL="127635" marR="5080">
              <a:lnSpc>
                <a:spcPct val="135400"/>
              </a:lnSpc>
              <a:spcBef>
                <a:spcPts val="1885"/>
              </a:spcBef>
            </a:pPr>
            <a:r>
              <a:rPr sz="1600" spc="-40" dirty="0">
                <a:solidFill>
                  <a:srgbClr val="383838"/>
                </a:solidFill>
                <a:latin typeface="Arial"/>
                <a:cs typeface="Arial"/>
              </a:rPr>
              <a:t>Ứ</a:t>
            </a:r>
            <a:r>
              <a:rPr sz="160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600" spc="-30" dirty="0">
                <a:solidFill>
                  <a:srgbClr val="383838"/>
                </a:solidFill>
                <a:latin typeface="Arial"/>
                <a:cs typeface="Arial"/>
              </a:rPr>
              <a:t>ụ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xây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600" spc="-30" dirty="0">
                <a:solidFill>
                  <a:srgbClr val="383838"/>
                </a:solidFill>
                <a:latin typeface="Arial"/>
                <a:cs typeface="Arial"/>
              </a:rPr>
              <a:t>ự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70" dirty="0">
                <a:solidFill>
                  <a:srgbClr val="383838"/>
                </a:solidFill>
                <a:latin typeface="Century Gothic"/>
                <a:cs typeface="Century Gothic"/>
              </a:rPr>
              <a:t>trên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mô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hình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50" dirty="0">
                <a:solidFill>
                  <a:srgbClr val="383838"/>
                </a:solidFill>
                <a:latin typeface="Century Gothic"/>
                <a:cs typeface="Century Gothic"/>
              </a:rPr>
              <a:t>3</a:t>
            </a:r>
            <a:r>
              <a:rPr sz="1600" b="1" spc="-6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ớ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p.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Giao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di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dùng</a:t>
            </a:r>
            <a:r>
              <a:rPr sz="160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60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phát </a:t>
            </a:r>
            <a:r>
              <a:rPr sz="160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tri</a:t>
            </a:r>
            <a:r>
              <a:rPr sz="1600" spc="8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600" b="1" spc="80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600" spc="-30" dirty="0">
                <a:solidFill>
                  <a:srgbClr val="383838"/>
                </a:solidFill>
                <a:latin typeface="Arial"/>
                <a:cs typeface="Arial"/>
              </a:rPr>
              <a:t>ằ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 ReactJS. Ph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ầ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x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1600" spc="-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lý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nghi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p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 v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ụ </a:t>
            </a:r>
            <a:r>
              <a:rPr sz="1600" b="1" spc="65" dirty="0">
                <a:solidFill>
                  <a:srgbClr val="383838"/>
                </a:solidFill>
                <a:latin typeface="Century Gothic"/>
                <a:cs typeface="Century Gothic"/>
              </a:rPr>
              <a:t>s</a:t>
            </a:r>
            <a:r>
              <a:rPr sz="1600" spc="65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600" spc="-30" dirty="0">
                <a:solidFill>
                  <a:srgbClr val="383838"/>
                </a:solidFill>
                <a:latin typeface="Arial"/>
                <a:cs typeface="Arial"/>
              </a:rPr>
              <a:t>ụ</a:t>
            </a:r>
            <a:r>
              <a:rPr sz="160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Node.js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và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 Express.js. 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600" spc="-25" dirty="0">
                <a:solidFill>
                  <a:srgbClr val="383838"/>
                </a:solidFill>
                <a:latin typeface="Arial"/>
                <a:cs typeface="Arial"/>
              </a:rPr>
              <a:t>ữ</a:t>
            </a:r>
            <a:r>
              <a:rPr sz="1600" spc="50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li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60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c</a:t>
            </a:r>
            <a:r>
              <a:rPr sz="160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l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ư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110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600" spc="110" dirty="0">
                <a:solidFill>
                  <a:srgbClr val="383838"/>
                </a:solidFill>
                <a:latin typeface="Arial"/>
                <a:cs typeface="Arial"/>
              </a:rPr>
              <a:t>ữ</a:t>
            </a:r>
            <a:r>
              <a:rPr sz="1600" spc="-1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trong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65" dirty="0">
                <a:solidFill>
                  <a:srgbClr val="383838"/>
                </a:solidFill>
                <a:latin typeface="Century Gothic"/>
                <a:cs typeface="Century Gothic"/>
              </a:rPr>
              <a:t>SQL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Server</a:t>
            </a:r>
            <a:r>
              <a:rPr sz="160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2022,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600" spc="-25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o</a:t>
            </a:r>
            <a:r>
              <a:rPr sz="160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hi</a:t>
            </a:r>
            <a:r>
              <a:rPr sz="160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60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60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90" dirty="0">
                <a:solidFill>
                  <a:srgbClr val="383838"/>
                </a:solidFill>
                <a:latin typeface="Century Gothic"/>
                <a:cs typeface="Century Gothic"/>
              </a:rPr>
              <a:t>su</a:t>
            </a:r>
            <a:r>
              <a:rPr sz="1600" spc="90" dirty="0">
                <a:solidFill>
                  <a:srgbClr val="383838"/>
                </a:solidFill>
                <a:latin typeface="Arial"/>
                <a:cs typeface="Arial"/>
              </a:rPr>
              <a:t>ấ</a:t>
            </a:r>
            <a:r>
              <a:rPr sz="1600" b="1" spc="9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và</a:t>
            </a:r>
            <a:r>
              <a:rPr sz="1600" b="1" spc="-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600" spc="-25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60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o</a:t>
            </a:r>
            <a:r>
              <a:rPr sz="160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600" spc="-20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60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t.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3923" y="240740"/>
            <a:ext cx="5069840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Thi</a:t>
            </a:r>
            <a:r>
              <a:rPr b="0" spc="70" dirty="0">
                <a:latin typeface="Arial"/>
                <a:cs typeface="Arial"/>
              </a:rPr>
              <a:t>ế</a:t>
            </a:r>
            <a:r>
              <a:rPr spc="70" dirty="0"/>
              <a:t>t</a:t>
            </a:r>
            <a:r>
              <a:rPr spc="50" dirty="0"/>
              <a:t> </a:t>
            </a:r>
            <a:r>
              <a:rPr dirty="0"/>
              <a:t>k</a:t>
            </a:r>
            <a:r>
              <a:rPr b="0" dirty="0">
                <a:latin typeface="Arial"/>
                <a:cs typeface="Arial"/>
              </a:rPr>
              <a:t>ế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50" dirty="0"/>
              <a:t>h</a:t>
            </a:r>
            <a:r>
              <a:rPr b="0" spc="50" dirty="0">
                <a:latin typeface="Arial"/>
                <a:cs typeface="Arial"/>
              </a:rPr>
              <a:t>ệ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100" dirty="0"/>
              <a:t>th</a:t>
            </a:r>
            <a:r>
              <a:rPr b="0" spc="100" dirty="0">
                <a:latin typeface="Arial"/>
                <a:cs typeface="Arial"/>
              </a:rPr>
              <a:t>ố</a:t>
            </a:r>
            <a:r>
              <a:rPr spc="100" dirty="0"/>
              <a:t>ng</a:t>
            </a: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14629130" cy="8228330"/>
          </a:xfrm>
          <a:custGeom>
            <a:avLst/>
            <a:gdLst/>
            <a:ahLst/>
            <a:cxnLst/>
            <a:rect l="l" t="t" r="r" b="b"/>
            <a:pathLst>
              <a:path w="14629130" h="8228330">
                <a:moveTo>
                  <a:pt x="0" y="0"/>
                </a:moveTo>
                <a:lnTo>
                  <a:pt x="14628876" y="0"/>
                </a:lnTo>
                <a:lnTo>
                  <a:pt x="14628876" y="8228076"/>
                </a:lnTo>
                <a:lnTo>
                  <a:pt x="0" y="82280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87" y="663219"/>
            <a:ext cx="5560060" cy="733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Cài</a:t>
            </a:r>
            <a:r>
              <a:rPr spc="55" dirty="0"/>
              <a:t> </a:t>
            </a:r>
            <a:r>
              <a:rPr spc="70" dirty="0"/>
              <a:t>đ</a:t>
            </a:r>
            <a:r>
              <a:rPr b="0" spc="70" dirty="0">
                <a:latin typeface="Arial"/>
                <a:cs typeface="Arial"/>
              </a:rPr>
              <a:t>ặ</a:t>
            </a:r>
            <a:r>
              <a:rPr spc="70" dirty="0"/>
              <a:t>t</a:t>
            </a:r>
            <a:r>
              <a:rPr spc="50" dirty="0"/>
              <a:t> </a:t>
            </a:r>
            <a:r>
              <a:rPr spc="75" dirty="0"/>
              <a:t>và</a:t>
            </a:r>
            <a:r>
              <a:rPr spc="60" dirty="0"/>
              <a:t> </a:t>
            </a:r>
            <a:r>
              <a:rPr dirty="0"/>
              <a:t>ki</a:t>
            </a:r>
            <a:r>
              <a:rPr b="0" dirty="0">
                <a:latin typeface="Arial"/>
                <a:cs typeface="Arial"/>
              </a:rPr>
              <a:t>ể</a:t>
            </a:r>
            <a:r>
              <a:rPr dirty="0"/>
              <a:t>m</a:t>
            </a:r>
            <a:r>
              <a:rPr spc="55" dirty="0"/>
              <a:t> </a:t>
            </a:r>
            <a:r>
              <a:rPr spc="100" dirty="0"/>
              <a:t>th</a:t>
            </a:r>
            <a:r>
              <a:rPr b="0" spc="100" dirty="0">
                <a:latin typeface="Arial"/>
                <a:cs typeface="Arial"/>
              </a:rPr>
              <a:t>ử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0403" y="1920239"/>
            <a:ext cx="1077468" cy="12923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76184" y="2226233"/>
            <a:ext cx="6210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Ngôn</a:t>
            </a:r>
            <a:r>
              <a:rPr sz="3000" b="1" spc="6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ng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ữ</a:t>
            </a:r>
            <a:r>
              <a:rPr sz="3000" spc="-20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spc="-125" dirty="0">
                <a:solidFill>
                  <a:srgbClr val="020202"/>
                </a:solidFill>
                <a:latin typeface="Palatino Linotype"/>
                <a:cs typeface="Palatino Linotype"/>
              </a:rPr>
              <a:t>SQL</a:t>
            </a:r>
            <a:r>
              <a:rPr sz="3000" b="1" spc="7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55" dirty="0">
                <a:solidFill>
                  <a:srgbClr val="020202"/>
                </a:solidFill>
                <a:latin typeface="Palatino Linotype"/>
                <a:cs typeface="Palatino Linotype"/>
              </a:rPr>
              <a:t>và</a:t>
            </a:r>
            <a:r>
              <a:rPr sz="3000" b="1" spc="6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-125" dirty="0">
                <a:solidFill>
                  <a:srgbClr val="020202"/>
                </a:solidFill>
                <a:latin typeface="Palatino Linotype"/>
                <a:cs typeface="Palatino Linotype"/>
              </a:rPr>
              <a:t>SQL</a:t>
            </a:r>
            <a:r>
              <a:rPr sz="3000" b="1" spc="7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Server</a:t>
            </a:r>
            <a:r>
              <a:rPr sz="3000" b="1" spc="6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175" dirty="0">
                <a:solidFill>
                  <a:srgbClr val="020202"/>
                </a:solidFill>
                <a:latin typeface="Palatino Linotype"/>
                <a:cs typeface="Palatino Linotype"/>
              </a:rPr>
              <a:t>2022</a:t>
            </a:r>
            <a:endParaRPr sz="3000">
              <a:latin typeface="Palatino Linotype"/>
              <a:cs typeface="Palatino Linotype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403" y="3726179"/>
            <a:ext cx="1077468" cy="12923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76184" y="4199178"/>
            <a:ext cx="5309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Thi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ế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t</a:t>
            </a:r>
            <a:r>
              <a:rPr sz="3000" b="1" spc="6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k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ế</a:t>
            </a:r>
            <a:r>
              <a:rPr sz="3000" spc="-20" dirty="0">
                <a:solidFill>
                  <a:srgbClr val="020202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web</a:t>
            </a:r>
            <a:r>
              <a:rPr sz="3000" b="1" spc="7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120" dirty="0">
                <a:solidFill>
                  <a:srgbClr val="020202"/>
                </a:solidFill>
                <a:latin typeface="Palatino Linotype"/>
                <a:cs typeface="Palatino Linotype"/>
              </a:rPr>
              <a:t>(</a:t>
            </a:r>
            <a:r>
              <a:rPr sz="3000" b="1" spc="6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Visual</a:t>
            </a:r>
            <a:r>
              <a:rPr sz="3000" b="1" spc="6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-10" dirty="0">
                <a:solidFill>
                  <a:srgbClr val="020202"/>
                </a:solidFill>
                <a:latin typeface="Palatino Linotype"/>
                <a:cs typeface="Palatino Linotype"/>
              </a:rPr>
              <a:t>Studio)</a:t>
            </a:r>
            <a:endParaRPr sz="3000" dirty="0">
              <a:latin typeface="Palatino Linotype"/>
              <a:cs typeface="Palatino Linotype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0403" y="5533644"/>
            <a:ext cx="1077468" cy="15864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76184" y="6152438"/>
            <a:ext cx="1739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Ki</a:t>
            </a:r>
            <a:r>
              <a:rPr sz="3000" dirty="0">
                <a:solidFill>
                  <a:srgbClr val="020202"/>
                </a:solidFill>
                <a:latin typeface="Arial"/>
                <a:cs typeface="Arial"/>
              </a:rPr>
              <a:t>ể</a:t>
            </a:r>
            <a:r>
              <a:rPr sz="3000" b="1" dirty="0">
                <a:solidFill>
                  <a:srgbClr val="020202"/>
                </a:solidFill>
                <a:latin typeface="Palatino Linotype"/>
                <a:cs typeface="Palatino Linotype"/>
              </a:rPr>
              <a:t>m</a:t>
            </a:r>
            <a:r>
              <a:rPr sz="3000" b="1" spc="-4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3000" b="1" spc="50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3000" spc="50" dirty="0">
                <a:solidFill>
                  <a:srgbClr val="020202"/>
                </a:solidFill>
                <a:latin typeface="Arial"/>
                <a:cs typeface="Arial"/>
              </a:rPr>
              <a:t>ử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11" name="object 11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926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05"/>
              </a:spcBef>
            </a:pPr>
            <a:r>
              <a:rPr dirty="0"/>
              <a:t>K</a:t>
            </a:r>
            <a:r>
              <a:rPr b="0" dirty="0">
                <a:latin typeface="Arial"/>
                <a:cs typeface="Arial"/>
              </a:rPr>
              <a:t>ế</a:t>
            </a:r>
            <a:r>
              <a:rPr dirty="0"/>
              <a:t>t</a:t>
            </a:r>
            <a:r>
              <a:rPr spc="140" dirty="0"/>
              <a:t> </a:t>
            </a:r>
            <a:r>
              <a:rPr dirty="0"/>
              <a:t>lu</a:t>
            </a:r>
            <a:r>
              <a:rPr b="0" dirty="0">
                <a:latin typeface="Arial"/>
                <a:cs typeface="Arial"/>
              </a:rPr>
              <a:t>ậ</a:t>
            </a:r>
            <a:r>
              <a:rPr dirty="0"/>
              <a:t>n</a:t>
            </a:r>
            <a:r>
              <a:rPr spc="135" dirty="0"/>
              <a:t> </a:t>
            </a:r>
            <a:r>
              <a:rPr spc="270" dirty="0"/>
              <a:t>&amp;</a:t>
            </a:r>
            <a:r>
              <a:rPr spc="145" dirty="0"/>
              <a:t> </a:t>
            </a:r>
            <a:r>
              <a:rPr dirty="0"/>
              <a:t>Đánh</a:t>
            </a:r>
            <a:r>
              <a:rPr spc="145" dirty="0"/>
              <a:t> </a:t>
            </a:r>
            <a:r>
              <a:rPr spc="60" dirty="0"/>
              <a:t>giá</a:t>
            </a:r>
          </a:p>
        </p:txBody>
      </p:sp>
      <p:sp>
        <p:nvSpPr>
          <p:cNvPr id="3" name="object 3"/>
          <p:cNvSpPr/>
          <p:nvPr/>
        </p:nvSpPr>
        <p:spPr>
          <a:xfrm>
            <a:off x="794004" y="2023872"/>
            <a:ext cx="6436360" cy="227329"/>
          </a:xfrm>
          <a:custGeom>
            <a:avLst/>
            <a:gdLst/>
            <a:ahLst/>
            <a:cxnLst/>
            <a:rect l="l" t="t" r="r" b="b"/>
            <a:pathLst>
              <a:path w="6436359" h="227330">
                <a:moveTo>
                  <a:pt x="6402324" y="227075"/>
                </a:moveTo>
                <a:lnTo>
                  <a:pt x="33527" y="227075"/>
                </a:lnTo>
                <a:lnTo>
                  <a:pt x="20452" y="224122"/>
                </a:lnTo>
                <a:lnTo>
                  <a:pt x="9744" y="216631"/>
                </a:lnTo>
                <a:lnTo>
                  <a:pt x="2545" y="205600"/>
                </a:lnTo>
                <a:lnTo>
                  <a:pt x="0" y="192023"/>
                </a:lnTo>
                <a:lnTo>
                  <a:pt x="0" y="33527"/>
                </a:lnTo>
                <a:lnTo>
                  <a:pt x="2545" y="20454"/>
                </a:lnTo>
                <a:lnTo>
                  <a:pt x="9744" y="9748"/>
                </a:lnTo>
                <a:lnTo>
                  <a:pt x="20452" y="2550"/>
                </a:lnTo>
                <a:lnTo>
                  <a:pt x="33527" y="0"/>
                </a:lnTo>
                <a:lnTo>
                  <a:pt x="6402324" y="0"/>
                </a:lnTo>
                <a:lnTo>
                  <a:pt x="6415469" y="2550"/>
                </a:lnTo>
                <a:lnTo>
                  <a:pt x="6426198" y="9748"/>
                </a:lnTo>
                <a:lnTo>
                  <a:pt x="6433372" y="20454"/>
                </a:lnTo>
                <a:lnTo>
                  <a:pt x="6435852" y="33527"/>
                </a:lnTo>
                <a:lnTo>
                  <a:pt x="6435852" y="192023"/>
                </a:lnTo>
                <a:lnTo>
                  <a:pt x="6433372" y="205600"/>
                </a:lnTo>
                <a:lnTo>
                  <a:pt x="6426198" y="216631"/>
                </a:lnTo>
                <a:lnTo>
                  <a:pt x="6415469" y="224122"/>
                </a:lnTo>
                <a:lnTo>
                  <a:pt x="6402324" y="22707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7910" y="2472220"/>
            <a:ext cx="4641850" cy="85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Ho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t</a:t>
            </a:r>
            <a:r>
              <a:rPr sz="2300" b="1" spc="1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ng</a:t>
            </a:r>
            <a:r>
              <a:rPr sz="2300" b="1" spc="1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ổ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r>
              <a:rPr sz="2300" b="1" spc="1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spc="-20" dirty="0">
                <a:solidFill>
                  <a:srgbClr val="383838"/>
                </a:solidFill>
                <a:latin typeface="Arial"/>
                <a:cs typeface="Arial"/>
              </a:rPr>
              <a:t>ị</a:t>
            </a:r>
            <a:r>
              <a:rPr sz="2300" b="1" spc="-20" dirty="0">
                <a:solidFill>
                  <a:srgbClr val="383838"/>
                </a:solidFill>
                <a:latin typeface="Palatino Linotype"/>
                <a:cs typeface="Palatino Linotype"/>
              </a:rPr>
              <a:t>nh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spc="-1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ch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y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ượ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mà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trên</a:t>
            </a:r>
            <a:r>
              <a:rPr sz="175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nhi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ề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thi</a:t>
            </a:r>
            <a:r>
              <a:rPr sz="1750" spc="105" dirty="0">
                <a:solidFill>
                  <a:srgbClr val="383838"/>
                </a:solidFill>
                <a:latin typeface="Arial"/>
                <a:cs typeface="Arial"/>
              </a:rPr>
              <a:t>ế</a:t>
            </a:r>
            <a:r>
              <a:rPr sz="1750" b="1" spc="105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b="1" spc="-1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b</a:t>
            </a:r>
            <a:r>
              <a:rPr sz="1750" spc="-25" dirty="0">
                <a:solidFill>
                  <a:srgbClr val="383838"/>
                </a:solidFill>
                <a:latin typeface="Arial"/>
                <a:cs typeface="Arial"/>
              </a:rPr>
              <a:t>ị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.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00543" y="1684020"/>
            <a:ext cx="6436360" cy="226060"/>
          </a:xfrm>
          <a:custGeom>
            <a:avLst/>
            <a:gdLst/>
            <a:ahLst/>
            <a:cxnLst/>
            <a:rect l="l" t="t" r="r" b="b"/>
            <a:pathLst>
              <a:path w="6436359" h="226060">
                <a:moveTo>
                  <a:pt x="6402323" y="225551"/>
                </a:moveTo>
                <a:lnTo>
                  <a:pt x="33527" y="225551"/>
                </a:lnTo>
                <a:lnTo>
                  <a:pt x="20382" y="223306"/>
                </a:lnTo>
                <a:lnTo>
                  <a:pt x="9653" y="216207"/>
                </a:lnTo>
                <a:lnTo>
                  <a:pt x="2479" y="205399"/>
                </a:lnTo>
                <a:lnTo>
                  <a:pt x="0" y="192023"/>
                </a:lnTo>
                <a:lnTo>
                  <a:pt x="0" y="33527"/>
                </a:lnTo>
                <a:lnTo>
                  <a:pt x="2479" y="20281"/>
                </a:lnTo>
                <a:lnTo>
                  <a:pt x="9653" y="9515"/>
                </a:lnTo>
                <a:lnTo>
                  <a:pt x="20382" y="2374"/>
                </a:lnTo>
                <a:lnTo>
                  <a:pt x="33527" y="0"/>
                </a:lnTo>
                <a:lnTo>
                  <a:pt x="6402323" y="0"/>
                </a:lnTo>
                <a:lnTo>
                  <a:pt x="6415420" y="2374"/>
                </a:lnTo>
                <a:lnTo>
                  <a:pt x="6426136" y="9515"/>
                </a:lnTo>
                <a:lnTo>
                  <a:pt x="6433327" y="20281"/>
                </a:lnTo>
                <a:lnTo>
                  <a:pt x="6435852" y="33527"/>
                </a:lnTo>
                <a:lnTo>
                  <a:pt x="6435852" y="192023"/>
                </a:lnTo>
                <a:lnTo>
                  <a:pt x="6433327" y="205399"/>
                </a:lnTo>
                <a:lnTo>
                  <a:pt x="6426136" y="216207"/>
                </a:lnTo>
                <a:lnTo>
                  <a:pt x="6415420" y="223306"/>
                </a:lnTo>
                <a:lnTo>
                  <a:pt x="6402323" y="225551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14322" y="2132050"/>
            <a:ext cx="4255135" cy="85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Giao</a:t>
            </a:r>
            <a:r>
              <a:rPr sz="2300" b="1" spc="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di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r>
              <a:rPr sz="2300" b="1" spc="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100" dirty="0">
                <a:solidFill>
                  <a:srgbClr val="383838"/>
                </a:solidFill>
                <a:latin typeface="Palatino Linotype"/>
                <a:cs typeface="Palatino Linotype"/>
              </a:rPr>
              <a:t>thân</a:t>
            </a:r>
            <a:r>
              <a:rPr sz="2300" b="1" spc="3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45" dirty="0">
                <a:solidFill>
                  <a:srgbClr val="383838"/>
                </a:solidFill>
                <a:latin typeface="Palatino Linotype"/>
                <a:cs typeface="Palatino Linotype"/>
              </a:rPr>
              <a:t>thi</a:t>
            </a:r>
            <a:r>
              <a:rPr sz="2300" spc="45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2300" b="1" spc="45" dirty="0">
                <a:solidFill>
                  <a:srgbClr val="383838"/>
                </a:solidFill>
                <a:latin typeface="Palatino Linotype"/>
                <a:cs typeface="Palatino Linotype"/>
              </a:rPr>
              <a:t>n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ễ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65" dirty="0">
                <a:solidFill>
                  <a:srgbClr val="383838"/>
                </a:solidFill>
                <a:latin typeface="Century Gothic"/>
                <a:cs typeface="Century Gothic"/>
              </a:rPr>
              <a:t>s</a:t>
            </a:r>
            <a:r>
              <a:rPr sz="1750" spc="65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1750" spc="-7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d</a:t>
            </a:r>
            <a:r>
              <a:rPr sz="1750" spc="-45" dirty="0">
                <a:solidFill>
                  <a:srgbClr val="383838"/>
                </a:solidFill>
                <a:latin typeface="Arial"/>
                <a:cs typeface="Arial"/>
              </a:rPr>
              <a:t>ụ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ng,</a:t>
            </a:r>
            <a:r>
              <a:rPr sz="1750" b="1" spc="-8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00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100" dirty="0">
                <a:solidFill>
                  <a:srgbClr val="383838"/>
                </a:solidFill>
                <a:latin typeface="Arial"/>
                <a:cs typeface="Arial"/>
              </a:rPr>
              <a:t>ả</a:t>
            </a:r>
            <a:r>
              <a:rPr sz="1750" b="1" spc="10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nghi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ệ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i</a:t>
            </a:r>
            <a:r>
              <a:rPr sz="1750" b="1" spc="-7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dùng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8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spc="80" dirty="0">
                <a:solidFill>
                  <a:srgbClr val="383838"/>
                </a:solidFill>
                <a:latin typeface="Century Gothic"/>
                <a:cs typeface="Century Gothic"/>
              </a:rPr>
              <a:t>t.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4004" y="4085844"/>
            <a:ext cx="6436360" cy="227329"/>
          </a:xfrm>
          <a:custGeom>
            <a:avLst/>
            <a:gdLst/>
            <a:ahLst/>
            <a:cxnLst/>
            <a:rect l="l" t="t" r="r" b="b"/>
            <a:pathLst>
              <a:path w="6436359" h="227329">
                <a:moveTo>
                  <a:pt x="6402324" y="227075"/>
                </a:moveTo>
                <a:lnTo>
                  <a:pt x="33527" y="227075"/>
                </a:lnTo>
                <a:lnTo>
                  <a:pt x="20452" y="223963"/>
                </a:lnTo>
                <a:lnTo>
                  <a:pt x="9744" y="216417"/>
                </a:lnTo>
                <a:lnTo>
                  <a:pt x="2545" y="205437"/>
                </a:lnTo>
                <a:lnTo>
                  <a:pt x="0" y="192023"/>
                </a:lnTo>
                <a:lnTo>
                  <a:pt x="0" y="33527"/>
                </a:lnTo>
                <a:lnTo>
                  <a:pt x="2545" y="20295"/>
                </a:lnTo>
                <a:lnTo>
                  <a:pt x="9744" y="9534"/>
                </a:lnTo>
                <a:lnTo>
                  <a:pt x="20452" y="2388"/>
                </a:lnTo>
                <a:lnTo>
                  <a:pt x="33527" y="0"/>
                </a:lnTo>
                <a:lnTo>
                  <a:pt x="6402324" y="0"/>
                </a:lnTo>
                <a:lnTo>
                  <a:pt x="6415469" y="2388"/>
                </a:lnTo>
                <a:lnTo>
                  <a:pt x="6426198" y="9534"/>
                </a:lnTo>
                <a:lnTo>
                  <a:pt x="6433372" y="20295"/>
                </a:lnTo>
                <a:lnTo>
                  <a:pt x="6435852" y="33527"/>
                </a:lnTo>
                <a:lnTo>
                  <a:pt x="6435852" y="192023"/>
                </a:lnTo>
                <a:lnTo>
                  <a:pt x="6433372" y="205437"/>
                </a:lnTo>
                <a:lnTo>
                  <a:pt x="6426198" y="216417"/>
                </a:lnTo>
                <a:lnTo>
                  <a:pt x="6415469" y="223963"/>
                </a:lnTo>
                <a:lnTo>
                  <a:pt x="6402324" y="22707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7910" y="4533900"/>
            <a:ext cx="5149850" cy="85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60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spc="-60" dirty="0">
                <a:solidFill>
                  <a:srgbClr val="383838"/>
                </a:solidFill>
                <a:latin typeface="Arial"/>
                <a:cs typeface="Arial"/>
              </a:rPr>
              <a:t>ầ</a:t>
            </a:r>
            <a:r>
              <a:rPr sz="2300" b="1" spc="-60" dirty="0">
                <a:solidFill>
                  <a:srgbClr val="383838"/>
                </a:solidFill>
                <a:latin typeface="Palatino Linotype"/>
                <a:cs typeface="Palatino Linotype"/>
              </a:rPr>
              <a:t>y</a:t>
            </a:r>
            <a:r>
              <a:rPr sz="2300" b="1" spc="-5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đ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ủ</a:t>
            </a:r>
            <a:r>
              <a:rPr sz="2300" spc="-6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spc="50" dirty="0">
                <a:solidFill>
                  <a:srgbClr val="383838"/>
                </a:solidFill>
                <a:latin typeface="Palatino Linotype"/>
                <a:cs typeface="Palatino Linotype"/>
              </a:rPr>
              <a:t>ch</a:t>
            </a:r>
            <a:r>
              <a:rPr sz="2300" spc="50" dirty="0">
                <a:solidFill>
                  <a:srgbClr val="383838"/>
                </a:solidFill>
                <a:latin typeface="Arial"/>
                <a:cs typeface="Arial"/>
              </a:rPr>
              <a:t>ứ</a:t>
            </a:r>
            <a:r>
              <a:rPr sz="2300" b="1" spc="50" dirty="0">
                <a:solidFill>
                  <a:srgbClr val="383838"/>
                </a:solidFill>
                <a:latin typeface="Palatino Linotype"/>
                <a:cs typeface="Palatino Linotype"/>
              </a:rPr>
              <a:t>c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50" dirty="0">
                <a:solidFill>
                  <a:srgbClr val="383838"/>
                </a:solidFill>
                <a:latin typeface="Palatino Linotype"/>
                <a:cs typeface="Palatino Linotype"/>
              </a:rPr>
              <a:t>năng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750" b="1" spc="60" dirty="0">
                <a:solidFill>
                  <a:srgbClr val="383838"/>
                </a:solidFill>
                <a:latin typeface="Century Gothic"/>
                <a:cs typeface="Century Gothic"/>
              </a:rPr>
              <a:t>Tìm,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o,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tham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gia,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đánh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70" dirty="0">
                <a:solidFill>
                  <a:srgbClr val="383838"/>
                </a:solidFill>
                <a:latin typeface="Century Gothic"/>
                <a:cs typeface="Century Gothic"/>
              </a:rPr>
              <a:t>giá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95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spc="95" dirty="0">
                <a:solidFill>
                  <a:srgbClr val="383838"/>
                </a:solidFill>
                <a:latin typeface="Arial"/>
                <a:cs typeface="Arial"/>
              </a:rPr>
              <a:t>ậ</a:t>
            </a:r>
            <a:r>
              <a:rPr sz="1750" b="1" spc="95" dirty="0">
                <a:solidFill>
                  <a:srgbClr val="383838"/>
                </a:solidFill>
                <a:latin typeface="Century Gothic"/>
                <a:cs typeface="Century Gothic"/>
              </a:rPr>
              <a:t>n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ề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u</a:t>
            </a:r>
            <a:r>
              <a:rPr sz="1750" b="1" spc="-2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ho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ạ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b="1" spc="-3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đ</a:t>
            </a:r>
            <a:r>
              <a:rPr sz="1750" spc="-10" dirty="0">
                <a:solidFill>
                  <a:srgbClr val="383838"/>
                </a:solidFill>
                <a:latin typeface="Arial"/>
                <a:cs typeface="Arial"/>
              </a:rPr>
              <a:t>ộ</a:t>
            </a:r>
            <a:r>
              <a:rPr sz="1750" b="1" spc="-10" dirty="0">
                <a:solidFill>
                  <a:srgbClr val="383838"/>
                </a:solidFill>
                <a:latin typeface="Century Gothic"/>
                <a:cs typeface="Century Gothic"/>
              </a:rPr>
              <a:t>ng.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00543" y="3744467"/>
            <a:ext cx="6436360" cy="227329"/>
          </a:xfrm>
          <a:custGeom>
            <a:avLst/>
            <a:gdLst/>
            <a:ahLst/>
            <a:cxnLst/>
            <a:rect l="l" t="t" r="r" b="b"/>
            <a:pathLst>
              <a:path w="6436359" h="227329">
                <a:moveTo>
                  <a:pt x="6402323" y="227076"/>
                </a:moveTo>
                <a:lnTo>
                  <a:pt x="33527" y="227076"/>
                </a:lnTo>
                <a:lnTo>
                  <a:pt x="20382" y="224667"/>
                </a:lnTo>
                <a:lnTo>
                  <a:pt x="9653" y="217517"/>
                </a:lnTo>
                <a:lnTo>
                  <a:pt x="2479" y="206764"/>
                </a:lnTo>
                <a:lnTo>
                  <a:pt x="0" y="193548"/>
                </a:lnTo>
                <a:lnTo>
                  <a:pt x="0" y="35052"/>
                </a:lnTo>
                <a:lnTo>
                  <a:pt x="2479" y="21618"/>
                </a:lnTo>
                <a:lnTo>
                  <a:pt x="9653" y="10634"/>
                </a:lnTo>
                <a:lnTo>
                  <a:pt x="20382" y="3096"/>
                </a:lnTo>
                <a:lnTo>
                  <a:pt x="33527" y="0"/>
                </a:lnTo>
                <a:lnTo>
                  <a:pt x="6402323" y="0"/>
                </a:lnTo>
                <a:lnTo>
                  <a:pt x="6415420" y="3096"/>
                </a:lnTo>
                <a:lnTo>
                  <a:pt x="6426136" y="10634"/>
                </a:lnTo>
                <a:lnTo>
                  <a:pt x="6433327" y="21618"/>
                </a:lnTo>
                <a:lnTo>
                  <a:pt x="6435852" y="35052"/>
                </a:lnTo>
                <a:lnTo>
                  <a:pt x="6435852" y="193548"/>
                </a:lnTo>
                <a:lnTo>
                  <a:pt x="6433327" y="206764"/>
                </a:lnTo>
                <a:lnTo>
                  <a:pt x="6426136" y="217517"/>
                </a:lnTo>
                <a:lnTo>
                  <a:pt x="6415420" y="224667"/>
                </a:lnTo>
                <a:lnTo>
                  <a:pt x="6402323" y="227076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14322" y="4193743"/>
            <a:ext cx="4101465" cy="85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Ki</a:t>
            </a:r>
            <a:r>
              <a:rPr sz="230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2300" b="1" dirty="0">
                <a:solidFill>
                  <a:srgbClr val="383838"/>
                </a:solidFill>
                <a:latin typeface="Palatino Linotype"/>
                <a:cs typeface="Palatino Linotype"/>
              </a:rPr>
              <a:t>m</a:t>
            </a:r>
            <a:r>
              <a:rPr sz="2300" b="1" spc="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70" dirty="0">
                <a:solidFill>
                  <a:srgbClr val="383838"/>
                </a:solidFill>
                <a:latin typeface="Palatino Linotype"/>
                <a:cs typeface="Palatino Linotype"/>
              </a:rPr>
              <a:t>th</a:t>
            </a:r>
            <a:r>
              <a:rPr sz="2300" spc="70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2300" spc="-5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b="1" spc="95" dirty="0">
                <a:solidFill>
                  <a:srgbClr val="383838"/>
                </a:solidFill>
                <a:latin typeface="Palatino Linotype"/>
                <a:cs typeface="Palatino Linotype"/>
              </a:rPr>
              <a:t>thành</a:t>
            </a:r>
            <a:r>
              <a:rPr sz="2300" b="1" spc="10" dirty="0">
                <a:solidFill>
                  <a:srgbClr val="383838"/>
                </a:solidFill>
                <a:latin typeface="Palatino Linotype"/>
                <a:cs typeface="Palatino Linotype"/>
              </a:rPr>
              <a:t> </a:t>
            </a:r>
            <a:r>
              <a:rPr sz="2300" b="1" spc="40" dirty="0">
                <a:solidFill>
                  <a:srgbClr val="383838"/>
                </a:solidFill>
                <a:latin typeface="Palatino Linotype"/>
                <a:cs typeface="Palatino Linotype"/>
              </a:rPr>
              <a:t>công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750" b="1" spc="-65" dirty="0">
                <a:solidFill>
                  <a:srgbClr val="383838"/>
                </a:solidFill>
                <a:latin typeface="Century Gothic"/>
                <a:cs typeface="Century Gothic"/>
              </a:rPr>
              <a:t>Đáp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spc="-40" dirty="0">
                <a:solidFill>
                  <a:srgbClr val="383838"/>
                </a:solidFill>
                <a:latin typeface="Arial"/>
                <a:cs typeface="Arial"/>
              </a:rPr>
              <a:t>ứ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15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spc="150" dirty="0">
                <a:solidFill>
                  <a:srgbClr val="383838"/>
                </a:solidFill>
                <a:latin typeface="Arial"/>
                <a:cs typeface="Arial"/>
              </a:rPr>
              <a:t>ố</a:t>
            </a:r>
            <a:r>
              <a:rPr sz="1750" b="1" spc="150" dirty="0">
                <a:solidFill>
                  <a:srgbClr val="383838"/>
                </a:solidFill>
                <a:latin typeface="Century Gothic"/>
                <a:cs typeface="Century Gothic"/>
              </a:rPr>
              <a:t>t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100" dirty="0">
                <a:solidFill>
                  <a:srgbClr val="383838"/>
                </a:solidFill>
                <a:latin typeface="Century Gothic"/>
                <a:cs typeface="Century Gothic"/>
              </a:rPr>
              <a:t>các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tr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ườ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ng</a:t>
            </a:r>
            <a:r>
              <a:rPr sz="1750" b="1" spc="-3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h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ợ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p</a:t>
            </a:r>
            <a:r>
              <a:rPr sz="1750" b="1" spc="-45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ki</a:t>
            </a:r>
            <a:r>
              <a:rPr sz="1750" dirty="0">
                <a:solidFill>
                  <a:srgbClr val="383838"/>
                </a:solidFill>
                <a:latin typeface="Arial"/>
                <a:cs typeface="Arial"/>
              </a:rPr>
              <a:t>ể</a:t>
            </a:r>
            <a:r>
              <a:rPr sz="1750" b="1" dirty="0">
                <a:solidFill>
                  <a:srgbClr val="383838"/>
                </a:solidFill>
                <a:latin typeface="Century Gothic"/>
                <a:cs typeface="Century Gothic"/>
              </a:rPr>
              <a:t>m</a:t>
            </a:r>
            <a:r>
              <a:rPr sz="1750" b="1" spc="-40" dirty="0">
                <a:solidFill>
                  <a:srgbClr val="383838"/>
                </a:solidFill>
                <a:latin typeface="Century Gothic"/>
                <a:cs typeface="Century Gothic"/>
              </a:rPr>
              <a:t> 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th</a:t>
            </a:r>
            <a:r>
              <a:rPr sz="1750" spc="-20" dirty="0">
                <a:solidFill>
                  <a:srgbClr val="383838"/>
                </a:solidFill>
                <a:latin typeface="Arial"/>
                <a:cs typeface="Arial"/>
              </a:rPr>
              <a:t>ử</a:t>
            </a:r>
            <a:r>
              <a:rPr sz="1750" b="1" spc="-20" dirty="0">
                <a:solidFill>
                  <a:srgbClr val="383838"/>
                </a:solidFill>
                <a:latin typeface="Century Gothic"/>
                <a:cs typeface="Century Gothic"/>
              </a:rPr>
              <a:t>.</a:t>
            </a:r>
            <a:endParaRPr sz="17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088" y="5757379"/>
            <a:ext cx="4992370" cy="1459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H</a:t>
            </a:r>
            <a:r>
              <a:rPr sz="4650" dirty="0">
                <a:solidFill>
                  <a:srgbClr val="020202"/>
                </a:solidFill>
                <a:latin typeface="Arial"/>
                <a:cs typeface="Arial"/>
              </a:rPr>
              <a:t>ướ</a:t>
            </a: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ng</a:t>
            </a:r>
            <a:r>
              <a:rPr sz="4650" b="1" spc="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155" dirty="0">
                <a:solidFill>
                  <a:srgbClr val="020202"/>
                </a:solidFill>
                <a:latin typeface="Palatino Linotype"/>
                <a:cs typeface="Palatino Linotype"/>
              </a:rPr>
              <a:t>phát</a:t>
            </a:r>
            <a:r>
              <a:rPr sz="4650" b="1" spc="1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95" dirty="0">
                <a:solidFill>
                  <a:srgbClr val="020202"/>
                </a:solidFill>
                <a:latin typeface="Palatino Linotype"/>
                <a:cs typeface="Palatino Linotype"/>
              </a:rPr>
              <a:t>tri</a:t>
            </a:r>
            <a:r>
              <a:rPr sz="4650" spc="95" dirty="0">
                <a:solidFill>
                  <a:srgbClr val="020202"/>
                </a:solidFill>
                <a:latin typeface="Arial"/>
                <a:cs typeface="Arial"/>
              </a:rPr>
              <a:t>ể</a:t>
            </a:r>
            <a:r>
              <a:rPr sz="4650" b="1" spc="95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endParaRPr sz="4650">
              <a:latin typeface="Palatino Linotype"/>
              <a:cs typeface="Palatino Linotype"/>
            </a:endParaRPr>
          </a:p>
          <a:p>
            <a:pPr marL="355600" indent="-342900">
              <a:lnSpc>
                <a:spcPct val="100000"/>
              </a:lnSpc>
              <a:spcBef>
                <a:spcPts val="2940"/>
              </a:spcBef>
              <a:buFont typeface="Arial"/>
              <a:buChar char="•"/>
              <a:tabLst>
                <a:tab pos="355600" algn="l"/>
                <a:tab pos="3245485" algn="l"/>
                <a:tab pos="3588385" algn="l"/>
              </a:tabLst>
            </a:pPr>
            <a:r>
              <a:rPr sz="2300" dirty="0">
                <a:latin typeface="Calibri"/>
                <a:cs typeface="Calibri"/>
              </a:rPr>
              <a:t>Ứng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dụng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dộng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3450" spc="-75" baseline="1207" dirty="0">
                <a:latin typeface="Arial"/>
                <a:cs typeface="Arial"/>
              </a:rPr>
              <a:t>•</a:t>
            </a:r>
            <a:r>
              <a:rPr sz="3450" baseline="1207" dirty="0">
                <a:latin typeface="Arial"/>
                <a:cs typeface="Arial"/>
              </a:rPr>
              <a:t>	</a:t>
            </a:r>
            <a:r>
              <a:rPr sz="3450" baseline="1207" dirty="0">
                <a:latin typeface="Calibri"/>
                <a:cs typeface="Calibri"/>
              </a:rPr>
              <a:t>Tích</a:t>
            </a:r>
            <a:r>
              <a:rPr sz="3450" spc="-67" baseline="1207" dirty="0">
                <a:latin typeface="Calibri"/>
                <a:cs typeface="Calibri"/>
              </a:rPr>
              <a:t> </a:t>
            </a:r>
            <a:r>
              <a:rPr sz="3450" baseline="1207" dirty="0">
                <a:latin typeface="Calibri"/>
                <a:cs typeface="Calibri"/>
              </a:rPr>
              <a:t>hợp</a:t>
            </a:r>
            <a:r>
              <a:rPr sz="3450" spc="-60" baseline="1207" dirty="0">
                <a:latin typeface="Calibri"/>
                <a:cs typeface="Calibri"/>
              </a:rPr>
              <a:t> </a:t>
            </a:r>
            <a:r>
              <a:rPr sz="3450" spc="-37" baseline="1207" dirty="0">
                <a:latin typeface="Calibri"/>
                <a:cs typeface="Calibri"/>
              </a:rPr>
              <a:t>AI</a:t>
            </a:r>
            <a:endParaRPr sz="3450" baseline="1207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761"/>
            <a:ext cx="14630400" cy="8228965"/>
            <a:chOff x="0" y="761"/>
            <a:chExt cx="14630400" cy="8228965"/>
          </a:xfrm>
        </p:grpSpPr>
        <p:sp>
          <p:nvSpPr>
            <p:cNvPr id="13" name="object 13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318" y="5349075"/>
            <a:ext cx="8413115" cy="1478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 marR="5080" indent="-806450">
              <a:lnSpc>
                <a:spcPts val="5850"/>
              </a:lnSpc>
            </a:pP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Chúng</a:t>
            </a:r>
            <a:r>
              <a:rPr sz="4650" b="1" spc="9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140" dirty="0">
                <a:solidFill>
                  <a:srgbClr val="020202"/>
                </a:solidFill>
                <a:latin typeface="Palatino Linotype"/>
                <a:cs typeface="Palatino Linotype"/>
              </a:rPr>
              <a:t>em</a:t>
            </a:r>
            <a:r>
              <a:rPr sz="4650" b="1" spc="9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130" dirty="0">
                <a:solidFill>
                  <a:srgbClr val="020202"/>
                </a:solidFill>
                <a:latin typeface="Palatino Linotype"/>
                <a:cs typeface="Palatino Linotype"/>
              </a:rPr>
              <a:t>xin</a:t>
            </a:r>
            <a:r>
              <a:rPr sz="4650" b="1" spc="8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95" dirty="0">
                <a:solidFill>
                  <a:srgbClr val="020202"/>
                </a:solidFill>
                <a:latin typeface="Palatino Linotype"/>
                <a:cs typeface="Palatino Linotype"/>
              </a:rPr>
              <a:t>c</a:t>
            </a:r>
            <a:r>
              <a:rPr sz="4650" spc="95" dirty="0">
                <a:solidFill>
                  <a:srgbClr val="020202"/>
                </a:solidFill>
                <a:latin typeface="Arial"/>
                <a:cs typeface="Arial"/>
              </a:rPr>
              <a:t>ả</a:t>
            </a:r>
            <a:r>
              <a:rPr sz="4650" b="1" spc="95" dirty="0">
                <a:solidFill>
                  <a:srgbClr val="020202"/>
                </a:solidFill>
                <a:latin typeface="Palatino Linotype"/>
                <a:cs typeface="Palatino Linotype"/>
              </a:rPr>
              <a:t>m</a:t>
            </a:r>
            <a:r>
              <a:rPr sz="4650" b="1" spc="9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spc="65" dirty="0">
                <a:solidFill>
                  <a:srgbClr val="020202"/>
                </a:solidFill>
                <a:latin typeface="Arial"/>
                <a:cs typeface="Arial"/>
              </a:rPr>
              <a:t>ơ</a:t>
            </a:r>
            <a:r>
              <a:rPr sz="4650" b="1" spc="65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r>
              <a:rPr sz="4650" b="1" spc="9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55" dirty="0">
                <a:solidFill>
                  <a:srgbClr val="020202"/>
                </a:solidFill>
                <a:latin typeface="Palatino Linotype"/>
                <a:cs typeface="Palatino Linotype"/>
              </a:rPr>
              <a:t>th</a:t>
            </a:r>
            <a:r>
              <a:rPr sz="4650" spc="55" dirty="0">
                <a:solidFill>
                  <a:srgbClr val="020202"/>
                </a:solidFill>
                <a:latin typeface="Arial"/>
                <a:cs typeface="Arial"/>
              </a:rPr>
              <a:t>ầ</a:t>
            </a:r>
            <a:r>
              <a:rPr sz="4650" b="1" spc="55" dirty="0">
                <a:solidFill>
                  <a:srgbClr val="020202"/>
                </a:solidFill>
                <a:latin typeface="Palatino Linotype"/>
                <a:cs typeface="Palatino Linotype"/>
              </a:rPr>
              <a:t>y</a:t>
            </a:r>
            <a:r>
              <a:rPr sz="4650" b="1" spc="85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140" dirty="0">
                <a:solidFill>
                  <a:srgbClr val="020202"/>
                </a:solidFill>
                <a:latin typeface="Palatino Linotype"/>
                <a:cs typeface="Palatino Linotype"/>
              </a:rPr>
              <a:t>cô </a:t>
            </a:r>
            <a:r>
              <a:rPr sz="4650" b="1" spc="70" dirty="0">
                <a:solidFill>
                  <a:srgbClr val="020202"/>
                </a:solidFill>
                <a:latin typeface="Palatino Linotype"/>
                <a:cs typeface="Palatino Linotype"/>
              </a:rPr>
              <a:t>và</a:t>
            </a:r>
            <a:r>
              <a:rPr sz="4650" b="1" spc="114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204" dirty="0">
                <a:solidFill>
                  <a:srgbClr val="020202"/>
                </a:solidFill>
                <a:latin typeface="Palatino Linotype"/>
                <a:cs typeface="Palatino Linotype"/>
              </a:rPr>
              <a:t>các</a:t>
            </a:r>
            <a:r>
              <a:rPr sz="4650" b="1" spc="12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b</a:t>
            </a:r>
            <a:r>
              <a:rPr sz="4650" dirty="0">
                <a:solidFill>
                  <a:srgbClr val="020202"/>
                </a:solidFill>
                <a:latin typeface="Arial"/>
                <a:cs typeface="Arial"/>
              </a:rPr>
              <a:t>ạ</a:t>
            </a: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n</a:t>
            </a:r>
            <a:r>
              <a:rPr sz="4650" b="1" spc="12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95" dirty="0">
                <a:solidFill>
                  <a:srgbClr val="020202"/>
                </a:solidFill>
                <a:latin typeface="Palatino Linotype"/>
                <a:cs typeface="Palatino Linotype"/>
              </a:rPr>
              <a:t>đã</a:t>
            </a:r>
            <a:r>
              <a:rPr sz="4650" b="1" spc="12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l</a:t>
            </a:r>
            <a:r>
              <a:rPr sz="4650" dirty="0">
                <a:solidFill>
                  <a:srgbClr val="020202"/>
                </a:solidFill>
                <a:latin typeface="Arial"/>
                <a:cs typeface="Arial"/>
              </a:rPr>
              <a:t>ắ</a:t>
            </a:r>
            <a:r>
              <a:rPr sz="4650" b="1" dirty="0">
                <a:solidFill>
                  <a:srgbClr val="020202"/>
                </a:solidFill>
                <a:latin typeface="Palatino Linotype"/>
                <a:cs typeface="Palatino Linotype"/>
              </a:rPr>
              <a:t>ng</a:t>
            </a:r>
            <a:r>
              <a:rPr sz="4650" b="1" spc="120" dirty="0">
                <a:solidFill>
                  <a:srgbClr val="020202"/>
                </a:solidFill>
                <a:latin typeface="Palatino Linotype"/>
                <a:cs typeface="Palatino Linotype"/>
              </a:rPr>
              <a:t> </a:t>
            </a:r>
            <a:r>
              <a:rPr sz="4650" b="1" spc="135" dirty="0">
                <a:solidFill>
                  <a:srgbClr val="020202"/>
                </a:solidFill>
                <a:latin typeface="Palatino Linotype"/>
                <a:cs typeface="Palatino Linotype"/>
              </a:rPr>
              <a:t>nghe!</a:t>
            </a:r>
            <a:endParaRPr sz="4650">
              <a:latin typeface="Palatino Linotype"/>
              <a:cs typeface="Palatino Linotyp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910072" cy="46984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0"/>
              <a:ext cx="5486400" cy="8229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735823"/>
              <a:ext cx="14630400" cy="494030"/>
            </a:xfrm>
            <a:custGeom>
              <a:avLst/>
              <a:gdLst/>
              <a:ahLst/>
              <a:cxnLst/>
              <a:rect l="l" t="t" r="r" b="b"/>
              <a:pathLst>
                <a:path w="14630400" h="494029">
                  <a:moveTo>
                    <a:pt x="14630400" y="493775"/>
                  </a:moveTo>
                  <a:lnTo>
                    <a:pt x="0" y="493775"/>
                  </a:lnTo>
                  <a:lnTo>
                    <a:pt x="0" y="91440"/>
                  </a:lnTo>
                  <a:lnTo>
                    <a:pt x="7102" y="55881"/>
                  </a:lnTo>
                  <a:lnTo>
                    <a:pt x="26431" y="26908"/>
                  </a:lnTo>
                  <a:lnTo>
                    <a:pt x="55024" y="7340"/>
                  </a:lnTo>
                  <a:lnTo>
                    <a:pt x="89916" y="0"/>
                  </a:lnTo>
                  <a:lnTo>
                    <a:pt x="14630400" y="0"/>
                  </a:lnTo>
                  <a:lnTo>
                    <a:pt x="14630400" y="493775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761"/>
              <a:ext cx="14629130" cy="8228330"/>
            </a:xfrm>
            <a:custGeom>
              <a:avLst/>
              <a:gdLst/>
              <a:ahLst/>
              <a:cxnLst/>
              <a:rect l="l" t="t" r="r" b="b"/>
              <a:pathLst>
                <a:path w="14629130" h="8228330">
                  <a:moveTo>
                    <a:pt x="0" y="0"/>
                  </a:moveTo>
                  <a:lnTo>
                    <a:pt x="14628876" y="0"/>
                  </a:lnTo>
                  <a:lnTo>
                    <a:pt x="14628876" y="8228076"/>
                  </a:lnTo>
                  <a:lnTo>
                    <a:pt x="0" y="82280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777</Words>
  <Application>Microsoft Office PowerPoint</Application>
  <PresentationFormat>Custom</PresentationFormat>
  <Paragraphs>130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Gothic</vt:lpstr>
      <vt:lpstr>Palatino Linotype</vt:lpstr>
      <vt:lpstr>Office Theme</vt:lpstr>
      <vt:lpstr>PowerPoint Presentation</vt:lpstr>
      <vt:lpstr>Tổng quan</vt:lpstr>
      <vt:lpstr>Khảo sát hệ thống</vt:lpstr>
      <vt:lpstr>Khảo sát hệ thống</vt:lpstr>
      <vt:lpstr>Phân tích hệ thống</vt:lpstr>
      <vt:lpstr>Thông tin vào</vt:lpstr>
      <vt:lpstr>Thông tin ra</vt:lpstr>
      <vt:lpstr>Phân tích hệ thống</vt:lpstr>
      <vt:lpstr>Sơ đồ usecase</vt:lpstr>
      <vt:lpstr>Sơ đồ Lớp</vt:lpstr>
      <vt:lpstr>Biểu đồ Trạng thái đăng nhập</vt:lpstr>
      <vt:lpstr>Biểu đồ Trạng thái đăng nhập</vt:lpstr>
      <vt:lpstr>Biểu đồ Trạng thái tìm trận và tạo trận</vt:lpstr>
      <vt:lpstr>Biểu đồ Trạng thái tìm trận</vt:lpstr>
      <vt:lpstr>Biểu đồ Trạng thái phê duyệt của chủ sân</vt:lpstr>
      <vt:lpstr>Biểu đồ Hoạt động</vt:lpstr>
      <vt:lpstr>Biểu đồ Hoạt động</vt:lpstr>
      <vt:lpstr>Thiết kế hệ thống</vt:lpstr>
      <vt:lpstr>Thiết kế hệ thống</vt:lpstr>
      <vt:lpstr>Thiết kế hệ thống</vt:lpstr>
      <vt:lpstr>Cài đặt và kiểm thử</vt:lpstr>
      <vt:lpstr>Kết luận &amp; Đánh giá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description/>
  <cp:lastModifiedBy>tuấn anh lê</cp:lastModifiedBy>
  <cp:revision>1</cp:revision>
  <dcterms:created xsi:type="dcterms:W3CDTF">2025-11-04T08:47:53Z</dcterms:created>
  <dcterms:modified xsi:type="dcterms:W3CDTF">2025-11-04T08:51:37Z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2025-06-12T00:00:00Z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2025-11-04T00:00:00Z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SourceModified">
    <vt:lpwstr>D:20250612005211+07'00'</vt:lpwstr>
  </property>
</Properties>
</file>